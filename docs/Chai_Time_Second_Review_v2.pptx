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17E2A"/>
          </a:solidFill>
          <a:ln/>
        </p:spPr>
      </p:sp>
      <p:pic>
        <p:nvPicPr>
          <p:cNvPr id="4" name="Image 0" descr="/home/claude/media_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474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297680"/>
            <a:ext cx="4389120" cy="84582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43342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4553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V. Devi Nandhini  AP/AI&amp;DS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" y="48280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Artificial Intelligence &amp; Data Science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0" y="457200"/>
            <a:ext cx="4297680" cy="640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594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CHAI-TIME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4572000" y="1463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4572000" y="2212848"/>
            <a:ext cx="4297680" cy="54864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408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Presentation  · 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27889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Point of Sale system to digitize café operations — billing, order management, real-time analytics, UPI payment integration, and shift-based cashier management powered by Firebase.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393192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39319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07608" y="393192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8" name="Text 15"/>
          <p:cNvSpPr/>
          <p:nvPr/>
        </p:nvSpPr>
        <p:spPr>
          <a:xfrm>
            <a:off x="6007608" y="39319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43216" y="393192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0" name="Text 17"/>
          <p:cNvSpPr/>
          <p:nvPr/>
        </p:nvSpPr>
        <p:spPr>
          <a:xfrm>
            <a:off x="7443216" y="39319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0" y="425196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4251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07608" y="425196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4" name="Text 21"/>
          <p:cNvSpPr/>
          <p:nvPr/>
        </p:nvSpPr>
        <p:spPr>
          <a:xfrm>
            <a:off x="6007608" y="4251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443216" y="4251960"/>
            <a:ext cx="1353312" cy="2560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6" name="Text 23"/>
          <p:cNvSpPr/>
          <p:nvPr/>
        </p:nvSpPr>
        <p:spPr>
          <a:xfrm>
            <a:off x="7443216" y="4251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72000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https://chai-time.netlify.app/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24128"/>
            <a:ext cx="4160520" cy="384048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4160520" cy="402336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51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depend on manual paper billing — prone to errors, delays, and revenue leakage.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track daily sales, cashier performance, or raw material costs in real time.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have zero visibility into business metrics without manually counting receipts.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acceptance limits customer convenience and slows billing queues.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shift handovers result in unaccounted transactions and cash discrepancies.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export mechanism — generating reports for review requires hours of manual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384048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4160520" cy="402336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51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Chai Time POS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web POS using Firebase Realtime Database for instant, accurate billing.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system: Cashier Interface for orders and Owner Portal for analytics.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Chart.js dashboard — daily/monthly sales, top items, cashier performance.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UPI payment with dynamic QR code scanning for fast checkout.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 with open/close summaries and per-cashier transaction tracking.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(jsPDF) and Excel (SheetJS) report export with date-range filtering.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01 /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8412480" cy="932688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475488"/>
            <a:ext cx="109728" cy="93268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53035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SME Operations with Real-time Mobile POS and Firebase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  ·  IJSTEM Vol. 4(4), pp. 108–135  ·  2024  ·  CC BY 4.0  ·  DOI: 10.53378/ijstem.353134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40233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mobile POS for SMEs using React Native + Firebase Realtime Database.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staff (cashier) &amp; admin (owner) — same dual-role model as Chai Time.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inventory sync, low-stock alerts, and real-time sales for café businesses.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usability score &gt;80 — validated high satisfaction from actual users.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40233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Chai Time POS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 used as backend — identical to Chai Time's architecture.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login (Cashier/Owner) mirrors the role system proved in this paper.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module parallels their SME inventory tracking sub-system.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Firebase as proven choice for SME café POS environments.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40233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  [1]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F. N. Azhari and Sutarman,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"Transforming SME operations...,"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IJSTEM, vol. 4, no. 4,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108–135, 2024.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10.53378/ijstem.353134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Intro + Lit Review + Tech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02 /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8412480" cy="932688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475488"/>
            <a:ext cx="109728" cy="932688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53035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Seiton: A Mobile Inventory Management System for Micro, Small and Medium-sized Enterprise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Margate, Ravina, Pido &amp; Young  ·  IEEE ICETAS 2020  ·  IEEE Xplore  ·  DOI: 10.1109/ICETAS51660.2020.9484183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402336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mobile inventory app for 'Family Milk Tea' café SME in Philippines.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stockout, overstocking, and manual Excel-based sales recording problems.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stock tracking, purchase orders, and sales reporting for owner.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real café users — measurable improvement in inventory accuracy.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402336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Chai Time POS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 type: milk tea/café — directly comparable context to Chai Time.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module in Chai Time solves the exact same stockout/tracking problem.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provides equivalent business insights as their system.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IEEE citation — use in Introduction for academic domain credibility.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40233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  [2]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M. N. Margate et al.,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"Seiton: A Mobile Inventory...,"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Proc. IEEE ICETAS 2020,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1–5.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10.1109/ICETAS51660.2020.9484183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Introduction + Related 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03 /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8412480" cy="932688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475488"/>
            <a:ext cx="109728" cy="932688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53035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Point of Sales for Automotive Component Industry using Rapid Application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Melvin, Wiratama, Sutomo &amp; Sanjaya  ·  JOINS Journal Vol. 8(2), pp. 167–176  ·  Nov. 2023  ·  Open Access  ·  DOI: 10.33633/joins.v8i2.9383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402336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 web-based POS for an MSME using the RAD methodology.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inventory monitoring and sales transactions in one web platform.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usability score: 86.6 — rated 'Very Good' by real business users.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tested in an actual small business environment with real transactions.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402336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Chai Time POS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architectural match — both are single-platform web POS for MSMEs.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adds UPI payment, shift management, and profit analytics beyond this.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SUS testing methodology can be adopted for Chai Time's evaluation section.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when comparing system architecture in the Related Work section.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33756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40233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727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  [3]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93392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Melvin et al.,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Web-based Point of Sales...,"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vol. 8, no. 2,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167–176, Nov. 2023.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10.33633/joins.v8i2.9383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Related Work + Architecture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560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8778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Literature Survey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56032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463040"/>
            <a:ext cx="3127248" cy="91440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63040"/>
            <a:ext cx="82296" cy="9144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Sutarman, 2024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POS + Firebase for SMEs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560320"/>
            <a:ext cx="3127248" cy="91440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2560320"/>
            <a:ext cx="82296" cy="91440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633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7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 et al., 2020 (IEEE)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962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 · Café SME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657600"/>
            <a:ext cx="3127248" cy="91440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3657600"/>
            <a:ext cx="82296" cy="91440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730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 et al., 2023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059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POS · RAD method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49040" y="256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LITERATURE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621792"/>
            <a:ext cx="512064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777240"/>
            <a:ext cx="5120640" cy="96012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777240"/>
            <a:ext cx="548640" cy="96012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3767328" y="107899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868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digitization reduces billing errors &amp;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119786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papers confirm digital/web POS systems significantly reduce transaction errors and billing time vs. manual methods — the primary problem Chai Time solves.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49040" y="1856232"/>
            <a:ext cx="5120640" cy="96012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49040" y="1856232"/>
            <a:ext cx="548640" cy="96012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3767328" y="215798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89120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proven for real-time SME applications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22768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 (2024) validate Firebase Realtime DB as a scalable, reliable backend for SME POS — directly justifying Chai Time's complete Firebase architecture.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49040" y="2935224"/>
            <a:ext cx="5120640" cy="96012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49040" y="2935224"/>
            <a:ext cx="548640" cy="96012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6" name="Text 34"/>
          <p:cNvSpPr/>
          <p:nvPr/>
        </p:nvSpPr>
        <p:spPr>
          <a:xfrm>
            <a:off x="3767328" y="32369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389120" y="3026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Café/tea shop context is an active research area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335584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 et al. (2020) focused on a milk tea café SME — confirming academic validity of your domain and strengthening your project's research foundation.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9040" y="4014216"/>
            <a:ext cx="5120640" cy="96012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49040" y="4014216"/>
            <a:ext cx="548640" cy="96012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1" name="Text 39"/>
          <p:cNvSpPr/>
          <p:nvPr/>
        </p:nvSpPr>
        <p:spPr>
          <a:xfrm>
            <a:off x="3767328" y="431596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389120" y="4105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introduces novel contributions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0" y="44348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uniquely adds UPI/QR payment, cashier shift management, raw material cost tracking, and profit analytics — features absent from all three surveyed papers.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vs  PROPOSED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828800" cy="4572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868680"/>
            <a:ext cx="3063240" cy="4572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868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21808" y="868680"/>
            <a:ext cx="3474720" cy="45720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1" name="Text 9"/>
          <p:cNvSpPr/>
          <p:nvPr/>
        </p:nvSpPr>
        <p:spPr>
          <a:xfrm>
            <a:off x="5321808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CHAI TIME POS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99032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145389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76272" y="1399032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31136" y="144475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paper bills or basic cash machines — slow and error-prone.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1399032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17" name="Text 15"/>
          <p:cNvSpPr/>
          <p:nvPr/>
        </p:nvSpPr>
        <p:spPr>
          <a:xfrm>
            <a:off x="5376672" y="1444752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web billing with item search, discount application &amp; Cash/UPI payment.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77072" y="1536192"/>
            <a:ext cx="411480" cy="27432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9" name="Text 17"/>
          <p:cNvSpPr/>
          <p:nvPr/>
        </p:nvSpPr>
        <p:spPr>
          <a:xfrm>
            <a:off x="8577072" y="15361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002536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0574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76272" y="2002536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2231136" y="2048256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Excel sheets — risk of data loss, no real-time access.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21808" y="2002536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25" name="Text 23"/>
          <p:cNvSpPr/>
          <p:nvPr/>
        </p:nvSpPr>
        <p:spPr>
          <a:xfrm>
            <a:off x="5376672" y="2048256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Realtime DB — cloud-synced, auto-updated, accessible from any device.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77072" y="2139696"/>
            <a:ext cx="411480" cy="27432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7072" y="21396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26609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76272" y="2606040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2231136" y="2651760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access; no cashier vs. owner role separation.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21808" y="2606040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2651760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Dual-role: Cashier Interface + Owner Portal with fully separate permissions.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77072" y="2743200"/>
            <a:ext cx="411480" cy="27432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5" name="Text 33"/>
          <p:cNvSpPr/>
          <p:nvPr/>
        </p:nvSpPr>
        <p:spPr>
          <a:xfrm>
            <a:off x="8577072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209544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326440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76272" y="3209544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2231136" y="3255264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dashboard; owner manually tallies receipts for totals.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21808" y="3209544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41" name="Text 39"/>
          <p:cNvSpPr/>
          <p:nvPr/>
        </p:nvSpPr>
        <p:spPr>
          <a:xfrm>
            <a:off x="5376672" y="3255264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Chart.js dashboards — sales trend, top items, cashier performance, P&amp;L.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77072" y="3346704"/>
            <a:ext cx="411480" cy="27432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3" name="Text 41"/>
          <p:cNvSpPr/>
          <p:nvPr/>
        </p:nvSpPr>
        <p:spPr>
          <a:xfrm>
            <a:off x="8577072" y="3346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813048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386791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76272" y="3813048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2231136" y="3858768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Cash only; no digital payment or UPI support.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21808" y="3813048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49" name="Text 47"/>
          <p:cNvSpPr/>
          <p:nvPr/>
        </p:nvSpPr>
        <p:spPr>
          <a:xfrm>
            <a:off x="5376672" y="3858768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Cash + UPI with dynamic QR code — customer scans to pay instantly.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577072" y="3950208"/>
            <a:ext cx="411480" cy="2743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1" name="Text 49"/>
          <p:cNvSpPr/>
          <p:nvPr/>
        </p:nvSpPr>
        <p:spPr>
          <a:xfrm>
            <a:off x="8577072" y="3950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4416552"/>
            <a:ext cx="182880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447141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76272" y="4416552"/>
            <a:ext cx="306324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2231136" y="446227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Raw material costs tracked manually or not tracked at all.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21808" y="4416552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57" name="Text 55"/>
          <p:cNvSpPr/>
          <p:nvPr/>
        </p:nvSpPr>
        <p:spPr>
          <a:xfrm>
            <a:off x="5376672" y="4462272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Raw material purchase logger with profit calculation and monthly cost view.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577072" y="4553712"/>
            <a:ext cx="411480" cy="27432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9" name="Text 57"/>
          <p:cNvSpPr/>
          <p:nvPr/>
        </p:nvSpPr>
        <p:spPr>
          <a:xfrm>
            <a:off x="8577072" y="4553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4956048"/>
            <a:ext cx="8705088" cy="18288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1" name="Text 59"/>
          <p:cNvSpPr/>
          <p:nvPr/>
        </p:nvSpPr>
        <p:spPr>
          <a:xfrm>
            <a:off x="32004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 [1] Azhari &amp; Sutarman 2024  ·  [2] Margate et al. IEEE 2020  ·  [3] Melvin et al. 2023  ·  New = novel feature not in surveyed papers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3" name="Text 61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286000"/>
            <a:ext cx="6400800" cy="6400800"/>
          </a:xfrm>
          <a:prstGeom prst="ellipse">
            <a:avLst/>
          </a:prstGeom>
          <a:solidFill>
            <a:srgbClr val="C17E2A"/>
          </a:solidFill>
          <a:ln/>
        </p:spPr>
      </p:sp>
      <p:pic>
        <p:nvPicPr>
          <p:cNvPr id="6" name="Image 0" descr="/home/claude/media_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914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840480" y="1691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3840480" y="2487168"/>
            <a:ext cx="4754880" cy="640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2633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&amp; Module Overview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900" dirty="0"/>
          </a:p>
        </p:txBody>
      </p:sp>
      <p:pic>
        <p:nvPicPr>
          <p:cNvPr id="4" name="Image 0" descr="/home/claude/media_imag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475488"/>
            <a:ext cx="859536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86384"/>
            <a:ext cx="50292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786384"/>
            <a:ext cx="210312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Shape 6"/>
          <p:cNvSpPr/>
          <p:nvPr/>
        </p:nvSpPr>
        <p:spPr>
          <a:xfrm>
            <a:off x="2944368" y="786384"/>
            <a:ext cx="361188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786384"/>
            <a:ext cx="237744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786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7863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786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188720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1188720"/>
            <a:ext cx="210312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2944368" y="1188720"/>
            <a:ext cx="361188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188720"/>
            <a:ext cx="237744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1188720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2435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124358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0088" y="124358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handles secure access. Cashiers select from a pre-approved name list; owners log in via email and password for the full admin portal.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29400" y="124358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· Session persistence · Secure sign-out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865376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1865376"/>
            <a:ext cx="210312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25" name="Shape 23"/>
          <p:cNvSpPr/>
          <p:nvPr/>
        </p:nvSpPr>
        <p:spPr>
          <a:xfrm>
            <a:off x="2944368" y="1865376"/>
            <a:ext cx="361188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1865376"/>
            <a:ext cx="237744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1865376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1920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POS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90088" y="1920240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categorized menu with search and sort. Cashiers add items to cart, apply discounts, and confirm payment mode (Cash or UPI with QR scan).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19202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 · Discount % · 13+ categories · Real-time total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542032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3" name="Shape 31"/>
          <p:cNvSpPr/>
          <p:nvPr/>
        </p:nvSpPr>
        <p:spPr>
          <a:xfrm>
            <a:off x="804672" y="2542032"/>
            <a:ext cx="210312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44368" y="2542032"/>
            <a:ext cx="361188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0" y="2542032"/>
            <a:ext cx="237744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2542032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25968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25968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Management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Printing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90088" y="2596896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stored in Firebase with a unique bill number. Bills can be reprinted, reviewed per cashier, and exported as PDF using jsPDF.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259689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print · Bill history · Per-cashier view · Reprint last bill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218688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" y="3218688"/>
            <a:ext cx="210312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43" name="Shape 41"/>
          <p:cNvSpPr/>
          <p:nvPr/>
        </p:nvSpPr>
        <p:spPr>
          <a:xfrm>
            <a:off x="2944368" y="3218688"/>
            <a:ext cx="361188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0" y="3218688"/>
            <a:ext cx="237744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3218688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2735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90088" y="3273552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open and close shifts with a complete summary including total bills, cash collected, UPI received, and grand total for the session.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29400" y="327355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shift · Cash + UPI split · Session summary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895344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51" name="Shape 49"/>
          <p:cNvSpPr/>
          <p:nvPr/>
        </p:nvSpPr>
        <p:spPr>
          <a:xfrm>
            <a:off x="804672" y="3895344"/>
            <a:ext cx="210312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2" name="Shape 50"/>
          <p:cNvSpPr/>
          <p:nvPr/>
        </p:nvSpPr>
        <p:spPr>
          <a:xfrm>
            <a:off x="2944368" y="3895344"/>
            <a:ext cx="361188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6583680" y="3895344"/>
            <a:ext cx="2377440" cy="676656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3895344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39502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22960" y="39502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Analytics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990088" y="395020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Chart.js dashboards for daily/monthly sales, payment mode distribution (pie), top-selling items (bar), cashier performance, and items sold table.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29400" y="395020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Monthly trend · Top items · Cashier stats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4572000"/>
            <a:ext cx="502920" cy="676656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60" name="Shape 58"/>
          <p:cNvSpPr/>
          <p:nvPr/>
        </p:nvSpPr>
        <p:spPr>
          <a:xfrm>
            <a:off x="804672" y="4572000"/>
            <a:ext cx="210312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61" name="Shape 59"/>
          <p:cNvSpPr/>
          <p:nvPr/>
        </p:nvSpPr>
        <p:spPr>
          <a:xfrm>
            <a:off x="2944368" y="4572000"/>
            <a:ext cx="361188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583680" y="4572000"/>
            <a:ext cx="2377440" cy="676656"/>
          </a:xfrm>
          <a:prstGeom prst="rect">
            <a:avLst/>
          </a:prstGeom>
          <a:solidFill>
            <a:srgbClr val="2A1F12"/>
          </a:solidFill>
          <a:ln/>
        </p:spPr>
      </p:sp>
      <p:sp>
        <p:nvSpPr>
          <p:cNvPr id="63" name="Shape 61"/>
          <p:cNvSpPr/>
          <p:nvPr/>
        </p:nvSpPr>
        <p:spPr>
          <a:xfrm>
            <a:off x="274320" y="4572000"/>
            <a:ext cx="54864" cy="67665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4626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2960" y="46268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Raw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990088" y="462686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exports itemwise, cashier-wise, P&amp;L, and consolidated reports with date-range filtering. Raw material purchases tracked to calculate profit margin.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629400" y="462686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 Excel · jsPDF · Date-range filter · P&amp;L calc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9" name="Text 67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41148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206240" cy="40233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618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28016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logs in → Firebase Auth verifies identity and loads session.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700784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7007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0704" y="17190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fetched from Firebase Realtime DB (fallback: local items.json).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139696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396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0704" y="215798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selects items → Cart accumulates line items with qty &amp; price.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578608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5786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60704" y="259689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 applied → Subtotal and Grand Total computed dynamically.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017520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0175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0704" y="303580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selected: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Cash: amount entered, change calculated.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UPI: QR code displayed, cashier confirms receipt.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456432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45643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0704" y="347472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written to Firebase: bill_no, date, cashier, items[], total, mode.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3895344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8953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60704" y="39136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generates printable bill; SheetJS logs entry to Excel export.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334256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33425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60704" y="435254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cleared → Shift totals updated → Ready for next transaction.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777240"/>
            <a:ext cx="4206240" cy="402336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 Algorithm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6592" y="1261872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12618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49824" y="128016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logs in via email/password through Firebase Authentication.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1700784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0" name="Text 38"/>
          <p:cNvSpPr/>
          <p:nvPr/>
        </p:nvSpPr>
        <p:spPr>
          <a:xfrm>
            <a:off x="4736592" y="17007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49824" y="17190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listener subscribes to all bills for selected date range.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2139696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3" name="Text 41"/>
          <p:cNvSpPr/>
          <p:nvPr/>
        </p:nvSpPr>
        <p:spPr>
          <a:xfrm>
            <a:off x="4736592" y="21396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49824" y="215798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total revenue, cash/UPI split, bill count, top items.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36592" y="2578608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25786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49824" y="259689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renders: monthly bar, payment pie, top-items bar, cashier table.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36592" y="3017520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49" name="Text 47"/>
          <p:cNvSpPr/>
          <p:nvPr/>
        </p:nvSpPr>
        <p:spPr>
          <a:xfrm>
            <a:off x="4736592" y="30175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49824" y="303580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filter applied → report type selected by owner.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36592" y="3456432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345643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49824" y="347472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computed: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Item-wise: qty × price per item.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Cashier-wise: bills and totals per cashier.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P&amp;L: total revenue − raw material costs.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36592" y="3895344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55" name="Text 53"/>
          <p:cNvSpPr/>
          <p:nvPr/>
        </p:nvSpPr>
        <p:spPr>
          <a:xfrm>
            <a:off x="4736592" y="38953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449824" y="39136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triggered: jsPDF for PDF bills / SheetJS for Excel on demand.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36592" y="4334256"/>
            <a:ext cx="658368" cy="329184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58" name="Text 56"/>
          <p:cNvSpPr/>
          <p:nvPr/>
        </p:nvSpPr>
        <p:spPr>
          <a:xfrm>
            <a:off x="4736592" y="433425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49824" y="435254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purchases logged separately to compute net profit margin.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1" name="Text 59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41148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206240" cy="40233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243584"/>
            <a:ext cx="395020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POS successfully digitizes café billing and business management, eliminating paper records and manual errors entirely.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provides reliable cloud sync validated by literature — supporting simultaneous cashier and owner sessions.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dual-role system (Cashier + Owner Portal) significantly improves operational efficiency and provides real-time business visibility.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QR payment integration adds a modern digital payment capability not found in any of the three surveyed reference systems.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 with per-cashier tracking ensures full accountability and transparency in all daily café operations.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dashboards and PDF/Excel report export empower owners with data-driven business decision support.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4206240" cy="402336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36592" y="1261872"/>
            <a:ext cx="411480" cy="41148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0368" y="1280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Android/iOS app for fully offline billing during internet outages with local sync.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1975104"/>
            <a:ext cx="411480" cy="41148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1975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30368" y="19933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224942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to predict peak hours, top-selling items, and optimal raw material stock levels.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2688336"/>
            <a:ext cx="411480" cy="41148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30368" y="270662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296265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with customer profiles, redemption tracking, and personalised discount offers.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6592" y="3401568"/>
            <a:ext cx="411480" cy="41148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0368" y="341985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67588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Firebase to support multiple café branches with a single owner account and consolidated reports.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4114800"/>
            <a:ext cx="411480" cy="41148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30368" y="413308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Bill Delivery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438912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digital bills to customers via WhatsApp Business API after each transaction.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2926080"/>
            <a:ext cx="5029200" cy="5029200"/>
          </a:xfrm>
          <a:prstGeom prst="ellipse">
            <a:avLst/>
          </a:prstGeom>
          <a:solidFill>
            <a:srgbClr val="C17E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C17E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Second Review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2999232"/>
            <a:ext cx="3657600" cy="54864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6379769351   |   +91 9080854488   |   +91 9345557536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thechaitime2026@gmail.com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https://chai-time.netlify.app/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46360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Mrs. V. Devi Nandhini  AP/AI&amp;DS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754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 Time POS - Second Review</dc:title>
  <dc:subject>PptxGenJS Presentation</dc:subject>
  <dc:creator>PptxGenJS</dc:creator>
  <cp:lastModifiedBy>PptxGenJS</cp:lastModifiedBy>
  <cp:revision>1</cp:revision>
  <dcterms:created xsi:type="dcterms:W3CDTF">2026-03-29T14:12:12Z</dcterms:created>
  <dcterms:modified xsi:type="dcterms:W3CDTF">2026-03-29T14:12:12Z</dcterms:modified>
</cp:coreProperties>
</file>