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C17E2A"/>
          </a:solidFill>
          <a:ln/>
        </p:spPr>
      </p:sp>
      <p:pic>
        <p:nvPicPr>
          <p:cNvPr id="4" name="Image 0" descr="/home/claude/media_image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48640"/>
            <a:ext cx="3383280" cy="3383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389120"/>
            <a:ext cx="4389120" cy="754380"/>
          </a:xfrm>
          <a:prstGeom prst="rect">
            <a:avLst/>
          </a:prstGeom>
          <a:solidFill>
            <a:srgbClr val="EDE8DF"/>
          </a:solidFill>
          <a:ln/>
        </p:spPr>
      </p:sp>
      <p:sp>
        <p:nvSpPr>
          <p:cNvPr id="6" name="Text 3"/>
          <p:cNvSpPr/>
          <p:nvPr/>
        </p:nvSpPr>
        <p:spPr>
          <a:xfrm>
            <a:off x="182880" y="441655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82880" y="46451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V. Devi Nandhini  AP/AI&amp;DS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0" y="502920"/>
            <a:ext cx="4389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CHAI-TIME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4800" dirty="0"/>
          </a:p>
        </p:txBody>
      </p:sp>
      <p:sp>
        <p:nvSpPr>
          <p:cNvPr id="9" name="Shape 6"/>
          <p:cNvSpPr/>
          <p:nvPr/>
        </p:nvSpPr>
        <p:spPr>
          <a:xfrm>
            <a:off x="4572000" y="2578608"/>
            <a:ext cx="3200400" cy="45720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0" y="274320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 Time POS is a web-based Point of Sale system designed to manage café operations such as billing, order management, and sales monitoring through an interactive digital interface.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0" y="4480560"/>
            <a:ext cx="4389120" cy="457200"/>
          </a:xfrm>
          <a:prstGeom prst="rect">
            <a:avLst/>
          </a:prstGeom>
          <a:noFill/>
          <a:ln/>
        </p:spPr>
      </p:sp>
      <p:sp>
        <p:nvSpPr>
          <p:cNvPr id="12" name="Text 9"/>
          <p:cNvSpPr/>
          <p:nvPr/>
        </p:nvSpPr>
        <p:spPr>
          <a:xfrm>
            <a:off x="4572000" y="45720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https://chai-time.netlify.app/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36576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&amp;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28600" y="1719072"/>
            <a:ext cx="2743200" cy="45720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920240"/>
            <a:ext cx="3749040" cy="731520"/>
          </a:xfrm>
          <a:prstGeom prst="rect">
            <a:avLst/>
          </a:prstGeom>
          <a:solidFill>
            <a:srgbClr val="1C1A1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920240"/>
            <a:ext cx="64008" cy="731520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97510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" y="22494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" y="2788920"/>
            <a:ext cx="3749040" cy="731520"/>
          </a:xfrm>
          <a:prstGeom prst="rect">
            <a:avLst/>
          </a:prstGeom>
          <a:solidFill>
            <a:srgbClr val="1C1A1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2788920"/>
            <a:ext cx="64008" cy="731520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28437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Domain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" y="31181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POS System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" y="3657600"/>
            <a:ext cx="3749040" cy="731520"/>
          </a:xfrm>
          <a:prstGeom prst="rect">
            <a:avLst/>
          </a:prstGeom>
          <a:solidFill>
            <a:srgbClr val="1C1A1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3657600"/>
            <a:ext cx="64008" cy="731520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371246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Area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4048" y="39867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&amp; Café Management Systems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89120" y="2743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 USED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89120" y="640080"/>
            <a:ext cx="4572000" cy="36576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20" name="Shape 18"/>
          <p:cNvSpPr/>
          <p:nvPr/>
        </p:nvSpPr>
        <p:spPr>
          <a:xfrm>
            <a:off x="4389120" y="804672"/>
            <a:ext cx="2176272" cy="868680"/>
          </a:xfrm>
          <a:prstGeom prst="rect">
            <a:avLst/>
          </a:prstGeom>
          <a:solidFill>
            <a:srgbClr val="EDE8D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89120" y="804672"/>
            <a:ext cx="2176272" cy="292608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22" name="Text 20"/>
          <p:cNvSpPr/>
          <p:nvPr/>
        </p:nvSpPr>
        <p:spPr>
          <a:xfrm>
            <a:off x="4480560" y="850392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80560" y="118872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Markup structure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20840" y="804672"/>
            <a:ext cx="2176272" cy="868680"/>
          </a:xfrm>
          <a:prstGeom prst="rect">
            <a:avLst/>
          </a:prstGeom>
          <a:solidFill>
            <a:srgbClr val="EDE8D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20840" y="804672"/>
            <a:ext cx="2176272" cy="292608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26" name="Text 24"/>
          <p:cNvSpPr/>
          <p:nvPr/>
        </p:nvSpPr>
        <p:spPr>
          <a:xfrm>
            <a:off x="6812280" y="850392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12280" y="118872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 &amp; layout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389120" y="1856232"/>
            <a:ext cx="2176272" cy="868680"/>
          </a:xfrm>
          <a:prstGeom prst="rect">
            <a:avLst/>
          </a:prstGeom>
          <a:solidFill>
            <a:srgbClr val="EDE8D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389120" y="1856232"/>
            <a:ext cx="2176272" cy="292608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30" name="Text 28"/>
          <p:cNvSpPr/>
          <p:nvPr/>
        </p:nvSpPr>
        <p:spPr>
          <a:xfrm>
            <a:off x="4480560" y="1901952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480560" y="224028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logic &amp; interactivity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20840" y="1856232"/>
            <a:ext cx="2176272" cy="868680"/>
          </a:xfrm>
          <a:prstGeom prst="rect">
            <a:avLst/>
          </a:prstGeom>
          <a:solidFill>
            <a:srgbClr val="EDE8D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720840" y="1856232"/>
            <a:ext cx="2176272" cy="292608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34" name="Text 32"/>
          <p:cNvSpPr/>
          <p:nvPr/>
        </p:nvSpPr>
        <p:spPr>
          <a:xfrm>
            <a:off x="6812280" y="1901952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12280" y="224028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389120" y="2907792"/>
            <a:ext cx="2176272" cy="868680"/>
          </a:xfrm>
          <a:prstGeom prst="rect">
            <a:avLst/>
          </a:prstGeom>
          <a:solidFill>
            <a:srgbClr val="EDE8D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389120" y="2907792"/>
            <a:ext cx="2176272" cy="292608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38" name="Text 36"/>
          <p:cNvSpPr/>
          <p:nvPr/>
        </p:nvSpPr>
        <p:spPr>
          <a:xfrm>
            <a:off x="4480560" y="2953512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Realtime DB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480560" y="329184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database &amp; sync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720840" y="2907792"/>
            <a:ext cx="2176272" cy="868680"/>
          </a:xfrm>
          <a:prstGeom prst="rect">
            <a:avLst/>
          </a:prstGeom>
          <a:solidFill>
            <a:srgbClr val="EDE8D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720840" y="2907792"/>
            <a:ext cx="2176272" cy="292608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42" name="Text 40"/>
          <p:cNvSpPr/>
          <p:nvPr/>
        </p:nvSpPr>
        <p:spPr>
          <a:xfrm>
            <a:off x="6812280" y="2953512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812280" y="329184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data visualization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389120" y="3959352"/>
            <a:ext cx="2176272" cy="868680"/>
          </a:xfrm>
          <a:prstGeom prst="rect">
            <a:avLst/>
          </a:prstGeom>
          <a:solidFill>
            <a:srgbClr val="EDE8D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389120" y="3959352"/>
            <a:ext cx="2176272" cy="292608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46" name="Text 44"/>
          <p:cNvSpPr/>
          <p:nvPr/>
        </p:nvSpPr>
        <p:spPr>
          <a:xfrm>
            <a:off x="4480560" y="4005072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jsPDF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480560" y="434340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bill generation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720840" y="3959352"/>
            <a:ext cx="2176272" cy="868680"/>
          </a:xfrm>
          <a:prstGeom prst="rect">
            <a:avLst/>
          </a:prstGeom>
          <a:solidFill>
            <a:srgbClr val="EDE8D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720840" y="3959352"/>
            <a:ext cx="2176272" cy="292608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50" name="Text 48"/>
          <p:cNvSpPr/>
          <p:nvPr/>
        </p:nvSpPr>
        <p:spPr>
          <a:xfrm>
            <a:off x="6812280" y="4005072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SheetJS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812280" y="434340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report export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32004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28600" y="1234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100" kern="0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 Time POS System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645920"/>
            <a:ext cx="2286000" cy="36576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7" name="Text 5"/>
          <p:cNvSpPr/>
          <p:nvPr/>
        </p:nvSpPr>
        <p:spPr>
          <a:xfrm>
            <a:off x="164592" y="18745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66928" y="1892808"/>
            <a:ext cx="3090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POS system designed to digitize and streamline café operations including billing, order management, and real-time business monitoring.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4592" y="283464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66928" y="2852928"/>
            <a:ext cx="3090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dual interfaces: a Cashier Interface for order processing &amp; bill generation, and an Owner Portal for analytics, shift management, and reports.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4592" y="379476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66928" y="3813048"/>
            <a:ext cx="3090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HTML, CSS, JavaScript + Firebase (Auth &amp; Realtime DB) for secure cloud-based data storage and live sync. Libraries: Chart.js, jsPDF, SheetJS.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977640" y="274320"/>
            <a:ext cx="4937760" cy="4572000"/>
          </a:xfrm>
          <a:prstGeom prst="rect">
            <a:avLst/>
          </a:prstGeom>
          <a:solidFill>
            <a:srgbClr val="EDE8D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60520" y="43891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60520" y="804672"/>
            <a:ext cx="4389120" cy="27432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16" name="Shape 14"/>
          <p:cNvSpPr/>
          <p:nvPr/>
        </p:nvSpPr>
        <p:spPr>
          <a:xfrm>
            <a:off x="4160520" y="960120"/>
            <a:ext cx="1188720" cy="384048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17" name="Text 15"/>
          <p:cNvSpPr/>
          <p:nvPr/>
        </p:nvSpPr>
        <p:spPr>
          <a:xfrm>
            <a:off x="4178808" y="996696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Type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13248" y="10332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Cloud POS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60520" y="1508760"/>
            <a:ext cx="1188720" cy="384048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20" name="Text 18"/>
          <p:cNvSpPr/>
          <p:nvPr/>
        </p:nvSpPr>
        <p:spPr>
          <a:xfrm>
            <a:off x="4178808" y="1545336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13248" y="15819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 &amp; Retail Management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60520" y="2057400"/>
            <a:ext cx="1188720" cy="384048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23" name="Text 21"/>
          <p:cNvSpPr/>
          <p:nvPr/>
        </p:nvSpPr>
        <p:spPr>
          <a:xfrm>
            <a:off x="4178808" y="2093976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13248" y="21305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+ Realtime Database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60520" y="2606040"/>
            <a:ext cx="1188720" cy="384048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26" name="Text 24"/>
          <p:cNvSpPr/>
          <p:nvPr/>
        </p:nvSpPr>
        <p:spPr>
          <a:xfrm>
            <a:off x="4178808" y="2642616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13248" y="26791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— sales, cashier performance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160520" y="3154680"/>
            <a:ext cx="1188720" cy="384048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29" name="Text 27"/>
          <p:cNvSpPr/>
          <p:nvPr/>
        </p:nvSpPr>
        <p:spPr>
          <a:xfrm>
            <a:off x="4178808" y="3191256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13248" y="32278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(jsPDF) &amp; Excel (SheetJS) export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160520" y="3703320"/>
            <a:ext cx="1188720" cy="384048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32" name="Text 30"/>
          <p:cNvSpPr/>
          <p:nvPr/>
        </p:nvSpPr>
        <p:spPr>
          <a:xfrm>
            <a:off x="4178808" y="3739896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13248" y="37764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+ UPI with QR code support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160520" y="4251960"/>
            <a:ext cx="1188720" cy="384048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35" name="Text 33"/>
          <p:cNvSpPr/>
          <p:nvPr/>
        </p:nvSpPr>
        <p:spPr>
          <a:xfrm>
            <a:off x="4178808" y="4288536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413248" y="43251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 Interface + Owner Portal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160520" y="466344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system improves operational efficiency, reduces manual errors, and provides owners with real-time business insights.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OBJECTIVES OF THIS PROJECT ARE: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36576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61872"/>
            <a:ext cx="4160520" cy="1005840"/>
          </a:xfrm>
          <a:prstGeom prst="rect">
            <a:avLst/>
          </a:prstGeom>
          <a:solidFill>
            <a:srgbClr val="3B2A1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61872"/>
            <a:ext cx="73152" cy="1005840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316736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1560" y="138988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web-based POS system for café management.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261872"/>
            <a:ext cx="4160520" cy="1005840"/>
          </a:xfrm>
          <a:prstGeom prst="rect">
            <a:avLst/>
          </a:prstGeom>
          <a:solidFill>
            <a:srgbClr val="3B2A1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261872"/>
            <a:ext cx="73152" cy="1005840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12" name="Text 10"/>
          <p:cNvSpPr/>
          <p:nvPr/>
        </p:nvSpPr>
        <p:spPr>
          <a:xfrm>
            <a:off x="4919472" y="1316736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40680" y="138988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billing and order processing for cashiers.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468880"/>
            <a:ext cx="4160520" cy="1005840"/>
          </a:xfrm>
          <a:prstGeom prst="rect">
            <a:avLst/>
          </a:prstGeom>
          <a:solidFill>
            <a:srgbClr val="3B2A1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468880"/>
            <a:ext cx="73152" cy="1005840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252374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51560" y="2596896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real-time sales monitoring for café owners.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2468880"/>
            <a:ext cx="4160520" cy="1005840"/>
          </a:xfrm>
          <a:prstGeom prst="rect">
            <a:avLst/>
          </a:prstGeom>
          <a:solidFill>
            <a:srgbClr val="3B2A1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468880"/>
            <a:ext cx="73152" cy="1005840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20" name="Text 18"/>
          <p:cNvSpPr/>
          <p:nvPr/>
        </p:nvSpPr>
        <p:spPr>
          <a:xfrm>
            <a:off x="4919472" y="252374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40680" y="2596896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secure authentication and data storage using Firebase.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675888"/>
            <a:ext cx="4160520" cy="1005840"/>
          </a:xfrm>
          <a:prstGeom prst="rect">
            <a:avLst/>
          </a:prstGeom>
          <a:solidFill>
            <a:srgbClr val="3B2A1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675888"/>
            <a:ext cx="73152" cy="1005840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373075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51560" y="3803904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user-friendly and responsive interface for all devices.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3675888"/>
            <a:ext cx="4160520" cy="1005840"/>
          </a:xfrm>
          <a:prstGeom prst="rect">
            <a:avLst/>
          </a:prstGeom>
          <a:solidFill>
            <a:srgbClr val="3B2A1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675888"/>
            <a:ext cx="73152" cy="1005840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28" name="Text 26"/>
          <p:cNvSpPr/>
          <p:nvPr/>
        </p:nvSpPr>
        <p:spPr>
          <a:xfrm>
            <a:off x="4919472" y="373075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440680" y="3803904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reports and analytics to support business decision making.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 ·  PAPER 01 / 03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65760" y="502920"/>
            <a:ext cx="8412480" cy="914400"/>
          </a:xfrm>
          <a:prstGeom prst="rect">
            <a:avLst/>
          </a:prstGeom>
          <a:solidFill>
            <a:srgbClr val="3B2A1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502920"/>
            <a:ext cx="91440" cy="914400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669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SME Operations with Real-time Mobile POS and Firebase Integration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Azhari &amp; Sutarman  ·  IJSTEM, Vol. 4(4), pp. 108–135  ·  2024  ·  CC BY 4.0 Open Access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536192"/>
            <a:ext cx="2697480" cy="3291840"/>
          </a:xfrm>
          <a:prstGeom prst="rect">
            <a:avLst/>
          </a:prstGeom>
          <a:solidFill>
            <a:srgbClr val="EDE8D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536192"/>
            <a:ext cx="2697480" cy="384048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57276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Paper Studies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1965960"/>
            <a:ext cx="2514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Develops a mobile POS for SMEs using React Native + Firebase Realtime DB.</a:t>
            </a:r>
            <a:endParaRPr lang="en-US" sz="10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access: staff (cashier) &amp; admin (owner) — same as Chai Time.</a:t>
            </a:r>
            <a:endParaRPr lang="en-US" sz="10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Low-stock alerts, inventory sync, and usability testing for a café-type SME.</a:t>
            </a:r>
            <a:endParaRPr lang="en-US" sz="10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score &gt; 80 — validated high user satisfaction.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536192"/>
            <a:ext cx="2697480" cy="3291840"/>
          </a:xfrm>
          <a:prstGeom prst="rect">
            <a:avLst/>
          </a:prstGeom>
          <a:solidFill>
            <a:srgbClr val="EDE8D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536192"/>
            <a:ext cx="2697480" cy="384048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14" name="Text 12"/>
          <p:cNvSpPr/>
          <p:nvPr/>
        </p:nvSpPr>
        <p:spPr>
          <a:xfrm>
            <a:off x="3310128" y="157276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to Your Project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91840" y="1965960"/>
            <a:ext cx="2514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system uses the same Firebase Realtime DB backend.</a:t>
            </a:r>
            <a:endParaRPr lang="en-US" sz="10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Dual-role login (Cashier / Owner) mirrors the role model in this paper.</a:t>
            </a:r>
            <a:endParaRPr lang="en-US" sz="10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materials tracking parallels their inventory management module.</a:t>
            </a:r>
            <a:endParaRPr lang="en-US" sz="10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Firebase for real-time POS in SME café environments.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536192"/>
            <a:ext cx="2697480" cy="3291840"/>
          </a:xfrm>
          <a:prstGeom prst="rect">
            <a:avLst/>
          </a:prstGeom>
          <a:solidFill>
            <a:srgbClr val="EDE8D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536192"/>
            <a:ext cx="2697480" cy="384048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18" name="Text 16"/>
          <p:cNvSpPr/>
          <p:nvPr/>
        </p:nvSpPr>
        <p:spPr>
          <a:xfrm>
            <a:off x="6144768" y="157276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Info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26480" y="1965960"/>
            <a:ext cx="2514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F. N. Azhari and Sutarman, IJSTEM, vol. 4, no. 4, pp. 108–135, 2024.</a:t>
            </a:r>
            <a:endParaRPr lang="en-US" sz="10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DOI: 10.53378/ijstem.353134</a:t>
            </a:r>
            <a:endParaRPr lang="en-US" sz="10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Publisher: IIARI, Philippines</a:t>
            </a:r>
            <a:endParaRPr lang="en-US" sz="10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in: Introduction + Lit Review + Tech Stack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5470D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29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 ·  PAPER 02 / 03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65760" y="502920"/>
            <a:ext cx="8412480" cy="914400"/>
          </a:xfrm>
          <a:prstGeom prst="rect">
            <a:avLst/>
          </a:prstGeom>
          <a:solidFill>
            <a:srgbClr val="3B2A1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502920"/>
            <a:ext cx="91440" cy="914400"/>
          </a:xfrm>
          <a:prstGeom prst="rect">
            <a:avLst/>
          </a:prstGeom>
          <a:solidFill>
            <a:srgbClr val="5470D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669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Seiton: A Mobile Inventory Management System for Micro, Small and Medium-sized Enterprise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29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Margate, Ravina, Pido &amp; Young  ·  IEEE ICETAS 2020  ·  IEEE Xplore Indexed  ·  DOI: 10.1109/ICETAS51660.2020.9484183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536192"/>
            <a:ext cx="2697480" cy="3291840"/>
          </a:xfrm>
          <a:prstGeom prst="rect">
            <a:avLst/>
          </a:prstGeom>
          <a:solidFill>
            <a:srgbClr val="EDE8D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536192"/>
            <a:ext cx="2697480" cy="384048"/>
          </a:xfrm>
          <a:prstGeom prst="rect">
            <a:avLst/>
          </a:prstGeom>
          <a:solidFill>
            <a:srgbClr val="5470DD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57276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Paper Studies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1965960"/>
            <a:ext cx="2514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mobile inventory app for a 'Family Milk Tea' café SME in the Philippines.</a:t>
            </a:r>
            <a:endParaRPr lang="en-US" sz="10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stockout, overstocking, and manual Excel-based sales recording problems.</a:t>
            </a:r>
            <a:endParaRPr lang="en-US" sz="10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handles stock tracking, purchase orders, and sales reporting.</a:t>
            </a:r>
            <a:endParaRPr lang="en-US" sz="10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with real café users; measurable improvement in inventory accuracy.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536192"/>
            <a:ext cx="2697480" cy="3291840"/>
          </a:xfrm>
          <a:prstGeom prst="rect">
            <a:avLst/>
          </a:prstGeom>
          <a:solidFill>
            <a:srgbClr val="EDE8D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536192"/>
            <a:ext cx="2697480" cy="384048"/>
          </a:xfrm>
          <a:prstGeom prst="rect">
            <a:avLst/>
          </a:prstGeom>
          <a:solidFill>
            <a:srgbClr val="5470DD"/>
          </a:solidFill>
          <a:ln/>
        </p:spPr>
      </p:sp>
      <p:sp>
        <p:nvSpPr>
          <p:cNvPr id="14" name="Text 12"/>
          <p:cNvSpPr/>
          <p:nvPr/>
        </p:nvSpPr>
        <p:spPr>
          <a:xfrm>
            <a:off x="3310128" y="157276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to Your Project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91840" y="1965960"/>
            <a:ext cx="2514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target business: milk tea / café — directly comparable to Chai Time.</a:t>
            </a:r>
            <a:endParaRPr lang="en-US" sz="10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Raw Materials module solves the same stockout and manual tracking problem.</a:t>
            </a:r>
            <a:endParaRPr lang="en-US" sz="10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Dashboard in your system provides the same business insights.</a:t>
            </a:r>
            <a:endParaRPr lang="en-US" sz="10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IEEE citation available — cite in Introduction for credibility.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536192"/>
            <a:ext cx="2697480" cy="3291840"/>
          </a:xfrm>
          <a:prstGeom prst="rect">
            <a:avLst/>
          </a:prstGeom>
          <a:solidFill>
            <a:srgbClr val="EDE8D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536192"/>
            <a:ext cx="2697480" cy="384048"/>
          </a:xfrm>
          <a:prstGeom prst="rect">
            <a:avLst/>
          </a:prstGeom>
          <a:solidFill>
            <a:srgbClr val="5470DD"/>
          </a:solidFill>
          <a:ln/>
        </p:spPr>
      </p:sp>
      <p:sp>
        <p:nvSpPr>
          <p:cNvPr id="18" name="Text 16"/>
          <p:cNvSpPr/>
          <p:nvPr/>
        </p:nvSpPr>
        <p:spPr>
          <a:xfrm>
            <a:off x="6144768" y="157276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Info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26480" y="1965960"/>
            <a:ext cx="2514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A. M. N. Margate et al., in Proc. IEEE ICETAS 2020, pp. 1–5.</a:t>
            </a:r>
            <a:endParaRPr lang="en-US" sz="10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DOI: 10.1109/ICETAS51660.2020.9484183</a:t>
            </a:r>
            <a:endParaRPr lang="en-US" sz="10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Publisher: IEEE (Xplore + ResearchGate)</a:t>
            </a:r>
            <a:endParaRPr lang="en-US" sz="10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in: Introduction + Related Work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9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A9B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5E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 ·  PAPER 03 / 03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65760" y="502920"/>
            <a:ext cx="8412480" cy="914400"/>
          </a:xfrm>
          <a:prstGeom prst="rect">
            <a:avLst/>
          </a:prstGeom>
          <a:solidFill>
            <a:srgbClr val="3B2A1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502920"/>
            <a:ext cx="91440" cy="914400"/>
          </a:xfrm>
          <a:prstGeom prst="rect">
            <a:avLst/>
          </a:prstGeom>
          <a:solidFill>
            <a:srgbClr val="3A9B6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669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Point of Sales for Automotive Component Industry using Rapid Application Development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Melvin, Wiratama, Sutomo &amp; Sanjaya  ·  JOINS Journal of Information System, Vol. 8(2), pp. 167–176  ·  Nov. 2023  ·  Open Access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536192"/>
            <a:ext cx="2697480" cy="3291840"/>
          </a:xfrm>
          <a:prstGeom prst="rect">
            <a:avLst/>
          </a:prstGeom>
          <a:solidFill>
            <a:srgbClr val="EDE8D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536192"/>
            <a:ext cx="2697480" cy="384048"/>
          </a:xfrm>
          <a:prstGeom prst="rect">
            <a:avLst/>
          </a:prstGeom>
          <a:solidFill>
            <a:srgbClr val="3A9B6F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57276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Paper Studies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1965960"/>
            <a:ext cx="2514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a web-based POS for an MSME using the RAD methodology.</a:t>
            </a:r>
            <a:endParaRPr lang="en-US" sz="10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inventory monitoring and sales transactions in one web platform.</a:t>
            </a:r>
            <a:endParaRPr lang="en-US" sz="10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usability score: 86.6 — rated 'Very Good' by real business users.</a:t>
            </a:r>
            <a:endParaRPr lang="en-US" sz="10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and tested in an actual small business environment.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536192"/>
            <a:ext cx="2697480" cy="3291840"/>
          </a:xfrm>
          <a:prstGeom prst="rect">
            <a:avLst/>
          </a:prstGeom>
          <a:solidFill>
            <a:srgbClr val="EDE8D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536192"/>
            <a:ext cx="2697480" cy="384048"/>
          </a:xfrm>
          <a:prstGeom prst="rect">
            <a:avLst/>
          </a:prstGeom>
          <a:solidFill>
            <a:srgbClr val="3A9B6F"/>
          </a:solidFill>
          <a:ln/>
        </p:spPr>
      </p:sp>
      <p:sp>
        <p:nvSpPr>
          <p:cNvPr id="14" name="Text 12"/>
          <p:cNvSpPr/>
          <p:nvPr/>
        </p:nvSpPr>
        <p:spPr>
          <a:xfrm>
            <a:off x="3310128" y="157276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to Your Project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91840" y="1965960"/>
            <a:ext cx="2514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architectural match: both are single-platform web POS for MSMEs.</a:t>
            </a:r>
            <a:endParaRPr lang="en-US" sz="10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 Time extends this with UPI payment, shift management, and profit analytics.</a:t>
            </a:r>
            <a:endParaRPr lang="en-US" sz="10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SUS testing method can be adopted for your evaluation section.</a:t>
            </a:r>
            <a:endParaRPr lang="en-US" sz="10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when comparing your system architecture in Related Work.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536192"/>
            <a:ext cx="2697480" cy="3291840"/>
          </a:xfrm>
          <a:prstGeom prst="rect">
            <a:avLst/>
          </a:prstGeom>
          <a:solidFill>
            <a:srgbClr val="EDE8D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536192"/>
            <a:ext cx="2697480" cy="384048"/>
          </a:xfrm>
          <a:prstGeom prst="rect">
            <a:avLst/>
          </a:prstGeom>
          <a:solidFill>
            <a:srgbClr val="3A9B6F"/>
          </a:solidFill>
          <a:ln/>
        </p:spPr>
      </p:sp>
      <p:sp>
        <p:nvSpPr>
          <p:cNvPr id="18" name="Text 16"/>
          <p:cNvSpPr/>
          <p:nvPr/>
        </p:nvSpPr>
        <p:spPr>
          <a:xfrm>
            <a:off x="6144768" y="157276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Info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26480" y="1965960"/>
            <a:ext cx="2514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M. Melvin et al., JOINS, vol. 8, no. 2, pp. 167–176, Nov. 2023.</a:t>
            </a:r>
            <a:endParaRPr lang="en-US" sz="10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DOI: 10.33633/joins.v8i2.9383</a:t>
            </a:r>
            <a:endParaRPr lang="en-US" sz="10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Publisher: JOINS / UDINUS Indonesia (Open Access)</a:t>
            </a:r>
            <a:endParaRPr lang="en-US" sz="10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in: Related Work + Architecture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25603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28600" y="89611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Literature Survey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1298448"/>
            <a:ext cx="2286000" cy="36576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7" name="Shape 5"/>
          <p:cNvSpPr/>
          <p:nvPr/>
        </p:nvSpPr>
        <p:spPr>
          <a:xfrm>
            <a:off x="201168" y="1508760"/>
            <a:ext cx="3017520" cy="868680"/>
          </a:xfrm>
          <a:prstGeom prst="rect">
            <a:avLst/>
          </a:prstGeom>
          <a:solidFill>
            <a:srgbClr val="1C1A1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1508760"/>
            <a:ext cx="73152" cy="868680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158191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15819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Azhari &amp; Sutarman, 2024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18928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POS + Firebase for SMEs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01168" y="2560320"/>
            <a:ext cx="3017520" cy="868680"/>
          </a:xfrm>
          <a:prstGeom prst="rect">
            <a:avLst/>
          </a:prstGeom>
          <a:solidFill>
            <a:srgbClr val="1C1A1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1168" y="2560320"/>
            <a:ext cx="73152" cy="868680"/>
          </a:xfrm>
          <a:prstGeom prst="rect">
            <a:avLst/>
          </a:prstGeom>
          <a:solidFill>
            <a:srgbClr val="5470DD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" y="26334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47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26334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Margate et al., 2020 (IEEE)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29443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Mgmt for Café SME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01168" y="3611880"/>
            <a:ext cx="3017520" cy="868680"/>
          </a:xfrm>
          <a:prstGeom prst="rect">
            <a:avLst/>
          </a:prstGeom>
          <a:solidFill>
            <a:srgbClr val="1C1A1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01168" y="3611880"/>
            <a:ext cx="73152" cy="868680"/>
          </a:xfrm>
          <a:prstGeom prst="rect">
            <a:avLst/>
          </a:prstGeom>
          <a:solidFill>
            <a:srgbClr val="3A9B6F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" y="36850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9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3685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Melvin et al., 2023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77240" y="39959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POS (RAD method)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0" y="25603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FROM LITERATURE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0" y="621792"/>
            <a:ext cx="5212080" cy="27432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24" name="Shape 22"/>
          <p:cNvSpPr/>
          <p:nvPr/>
        </p:nvSpPr>
        <p:spPr>
          <a:xfrm>
            <a:off x="3657600" y="777240"/>
            <a:ext cx="5212080" cy="914400"/>
          </a:xfrm>
          <a:prstGeom prst="rect">
            <a:avLst/>
          </a:prstGeom>
          <a:solidFill>
            <a:srgbClr val="EDE8D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0" y="777240"/>
            <a:ext cx="502920" cy="914400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26" name="Text 24"/>
          <p:cNvSpPr/>
          <p:nvPr/>
        </p:nvSpPr>
        <p:spPr>
          <a:xfrm>
            <a:off x="3675888" y="1051560"/>
            <a:ext cx="466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251960" y="8503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POS improves billing efficiency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251960" y="1161288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papers confirm web/mobile POS systems reduce transaction time and billing errors — directly validating Chai Time's core purpose.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0" y="1828800"/>
            <a:ext cx="5212080" cy="914400"/>
          </a:xfrm>
          <a:prstGeom prst="rect">
            <a:avLst/>
          </a:prstGeom>
          <a:solidFill>
            <a:srgbClr val="EDE8D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0" y="1828800"/>
            <a:ext cx="502920" cy="914400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31" name="Text 29"/>
          <p:cNvSpPr/>
          <p:nvPr/>
        </p:nvSpPr>
        <p:spPr>
          <a:xfrm>
            <a:off x="3675888" y="2103120"/>
            <a:ext cx="466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251960" y="190195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is proven for SME real-time apps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251960" y="2212848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Azhari &amp; Sutarman (2024) demonstrate Firebase Realtime DB as a scalable backend for SME POS apps — justifying your Firebase choice.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0" y="2880360"/>
            <a:ext cx="5212080" cy="914400"/>
          </a:xfrm>
          <a:prstGeom prst="rect">
            <a:avLst/>
          </a:prstGeom>
          <a:solidFill>
            <a:srgbClr val="EDE8D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0" y="2880360"/>
            <a:ext cx="502920" cy="914400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36" name="Text 34"/>
          <p:cNvSpPr/>
          <p:nvPr/>
        </p:nvSpPr>
        <p:spPr>
          <a:xfrm>
            <a:off x="3675888" y="3154680"/>
            <a:ext cx="466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4251960" y="29535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Café/tea shop context is active research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251960" y="3264408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Margate et al. (2020) focused on a milk tea café SME, confirming your domain's research validity and academic justification.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657600" y="3931920"/>
            <a:ext cx="5212080" cy="914400"/>
          </a:xfrm>
          <a:prstGeom prst="rect">
            <a:avLst/>
          </a:prstGeom>
          <a:solidFill>
            <a:srgbClr val="EDE8D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657600" y="3931920"/>
            <a:ext cx="502920" cy="914400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41" name="Text 39"/>
          <p:cNvSpPr/>
          <p:nvPr/>
        </p:nvSpPr>
        <p:spPr>
          <a:xfrm>
            <a:off x="3675888" y="4206240"/>
            <a:ext cx="466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4251960" y="40050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 Time extends beyond existing systems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251960" y="4315968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 Time adds UPI/QR payment, cashier shift management, raw material cost tracking, and profit analytics — features absent in all surveyed papers.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 vs  PROPOSED SYSTEM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1874520" cy="457200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8696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0" y="868680"/>
            <a:ext cx="3017520" cy="457200"/>
          </a:xfrm>
          <a:prstGeom prst="rect">
            <a:avLst/>
          </a:prstGeom>
          <a:solidFill>
            <a:srgbClr val="B03030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8869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0" y="868680"/>
            <a:ext cx="3474720" cy="457200"/>
          </a:xfrm>
          <a:prstGeom prst="rect">
            <a:avLst/>
          </a:prstGeom>
          <a:solidFill>
            <a:srgbClr val="3A9B6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0" y="88696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(CHAI TIME POS)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389888"/>
            <a:ext cx="1874520" cy="566928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4447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Method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0" y="1389888"/>
            <a:ext cx="3017520" cy="566928"/>
          </a:xfrm>
          <a:prstGeom prst="rect">
            <a:avLst/>
          </a:prstGeom>
          <a:solidFill>
            <a:srgbClr val="3A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2331720" y="1435608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Manual billing machines or paper-based billing — slow and error-prone.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0" y="1389888"/>
            <a:ext cx="3200400" cy="566928"/>
          </a:xfrm>
          <a:prstGeom prst="rect">
            <a:avLst/>
          </a:prstGeom>
          <a:solidFill>
            <a:srgbClr val="0F2A1E"/>
          </a:solidFill>
          <a:ln/>
        </p:spPr>
      </p:sp>
      <p:sp>
        <p:nvSpPr>
          <p:cNvPr id="16" name="Text 14"/>
          <p:cNvSpPr/>
          <p:nvPr/>
        </p:nvSpPr>
        <p:spPr>
          <a:xfrm>
            <a:off x="5532120" y="1435608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8D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Web-based digital billing with instant item selection, discounts, and bill generation.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732520" y="1517904"/>
            <a:ext cx="347472" cy="292608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18" name="Text 16"/>
          <p:cNvSpPr/>
          <p:nvPr/>
        </p:nvSpPr>
        <p:spPr>
          <a:xfrm>
            <a:off x="8732520" y="151790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1993392"/>
            <a:ext cx="1874520" cy="566928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20" name="Text 18"/>
          <p:cNvSpPr/>
          <p:nvPr/>
        </p:nvSpPr>
        <p:spPr>
          <a:xfrm>
            <a:off x="292608" y="20482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Records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0" y="1993392"/>
            <a:ext cx="3017520" cy="566928"/>
          </a:xfrm>
          <a:prstGeom prst="rect">
            <a:avLst/>
          </a:prstGeom>
          <a:solidFill>
            <a:srgbClr val="3A1A1A"/>
          </a:solidFill>
          <a:ln/>
        </p:spPr>
      </p:sp>
      <p:sp>
        <p:nvSpPr>
          <p:cNvPr id="22" name="Text 20"/>
          <p:cNvSpPr/>
          <p:nvPr/>
        </p:nvSpPr>
        <p:spPr>
          <a:xfrm>
            <a:off x="2331720" y="2039112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Manual registers or Excel sheets — risk of data loss, no real-time access.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0" y="1993392"/>
            <a:ext cx="3200400" cy="566928"/>
          </a:xfrm>
          <a:prstGeom prst="rect">
            <a:avLst/>
          </a:prstGeom>
          <a:solidFill>
            <a:srgbClr val="0F2A1E"/>
          </a:solidFill>
          <a:ln/>
        </p:spPr>
      </p:sp>
      <p:sp>
        <p:nvSpPr>
          <p:cNvPr id="24" name="Text 22"/>
          <p:cNvSpPr/>
          <p:nvPr/>
        </p:nvSpPr>
        <p:spPr>
          <a:xfrm>
            <a:off x="5532120" y="2039112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8D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Firebase Realtime Database — cloud-stored, auto-synced, accessible anytime from any device.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732520" y="2121408"/>
            <a:ext cx="347472" cy="292608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26" name="Text 24"/>
          <p:cNvSpPr/>
          <p:nvPr/>
        </p:nvSpPr>
        <p:spPr>
          <a:xfrm>
            <a:off x="8732520" y="212140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74320" y="2596896"/>
            <a:ext cx="1874520" cy="566928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28" name="Text 26"/>
          <p:cNvSpPr/>
          <p:nvPr/>
        </p:nvSpPr>
        <p:spPr>
          <a:xfrm>
            <a:off x="292608" y="2651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0" y="2596896"/>
            <a:ext cx="3017520" cy="566928"/>
          </a:xfrm>
          <a:prstGeom prst="rect">
            <a:avLst/>
          </a:prstGeom>
          <a:solidFill>
            <a:srgbClr val="3A1A1A"/>
          </a:solidFill>
          <a:ln/>
        </p:spPr>
      </p:sp>
      <p:sp>
        <p:nvSpPr>
          <p:cNvPr id="30" name="Text 28"/>
          <p:cNvSpPr/>
          <p:nvPr/>
        </p:nvSpPr>
        <p:spPr>
          <a:xfrm>
            <a:off x="2331720" y="2642616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Single user access; no role separation between cashier and management.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86400" y="2596896"/>
            <a:ext cx="3200400" cy="566928"/>
          </a:xfrm>
          <a:prstGeom prst="rect">
            <a:avLst/>
          </a:prstGeom>
          <a:solidFill>
            <a:srgbClr val="0F2A1E"/>
          </a:solidFill>
          <a:ln/>
        </p:spPr>
      </p:sp>
      <p:sp>
        <p:nvSpPr>
          <p:cNvPr id="32" name="Text 30"/>
          <p:cNvSpPr/>
          <p:nvPr/>
        </p:nvSpPr>
        <p:spPr>
          <a:xfrm>
            <a:off x="5532120" y="2642616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8D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Dual-role system: Cashier Interface + Owner Portal with separate access and permissions.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732520" y="2724912"/>
            <a:ext cx="347472" cy="292608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34" name="Text 32"/>
          <p:cNvSpPr/>
          <p:nvPr/>
        </p:nvSpPr>
        <p:spPr>
          <a:xfrm>
            <a:off x="8732520" y="272491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[1][2]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74320" y="3200400"/>
            <a:ext cx="1874520" cy="566928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36" name="Text 34"/>
          <p:cNvSpPr/>
          <p:nvPr/>
        </p:nvSpPr>
        <p:spPr>
          <a:xfrm>
            <a:off x="292608" y="325526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286000" y="3200400"/>
            <a:ext cx="3017520" cy="566928"/>
          </a:xfrm>
          <a:prstGeom prst="rect">
            <a:avLst/>
          </a:prstGeom>
          <a:solidFill>
            <a:srgbClr val="3A1A1A"/>
          </a:solidFill>
          <a:ln/>
        </p:spPr>
      </p:sp>
      <p:sp>
        <p:nvSpPr>
          <p:cNvPr id="38" name="Text 36"/>
          <p:cNvSpPr/>
          <p:nvPr/>
        </p:nvSpPr>
        <p:spPr>
          <a:xfrm>
            <a:off x="2331720" y="3246120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analytics. Owner must manually calculate daily/monthly sales figures.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86400" y="3200400"/>
            <a:ext cx="3200400" cy="566928"/>
          </a:xfrm>
          <a:prstGeom prst="rect">
            <a:avLst/>
          </a:prstGeom>
          <a:solidFill>
            <a:srgbClr val="0F2A1E"/>
          </a:solidFill>
          <a:ln/>
        </p:spPr>
      </p:sp>
      <p:sp>
        <p:nvSpPr>
          <p:cNvPr id="40" name="Text 38"/>
          <p:cNvSpPr/>
          <p:nvPr/>
        </p:nvSpPr>
        <p:spPr>
          <a:xfrm>
            <a:off x="5532120" y="3246120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8D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Live dashboards with Chart.js — daily/monthly sales, top items, cashier performance, P&amp;L.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732520" y="3328416"/>
            <a:ext cx="347472" cy="292608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42" name="Text 40"/>
          <p:cNvSpPr/>
          <p:nvPr/>
        </p:nvSpPr>
        <p:spPr>
          <a:xfrm>
            <a:off x="8732520" y="332841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74320" y="3803904"/>
            <a:ext cx="1874520" cy="566928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44" name="Text 42"/>
          <p:cNvSpPr/>
          <p:nvPr/>
        </p:nvSpPr>
        <p:spPr>
          <a:xfrm>
            <a:off x="292608" y="38587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286000" y="3803904"/>
            <a:ext cx="3017520" cy="566928"/>
          </a:xfrm>
          <a:prstGeom prst="rect">
            <a:avLst/>
          </a:prstGeom>
          <a:solidFill>
            <a:srgbClr val="3A1A1A"/>
          </a:solidFill>
          <a:ln/>
        </p:spPr>
      </p:sp>
      <p:sp>
        <p:nvSpPr>
          <p:cNvPr id="46" name="Text 44"/>
          <p:cNvSpPr/>
          <p:nvPr/>
        </p:nvSpPr>
        <p:spPr>
          <a:xfrm>
            <a:off x="2331720" y="3849624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Cash only; no digital payment support.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486400" y="3803904"/>
            <a:ext cx="3200400" cy="566928"/>
          </a:xfrm>
          <a:prstGeom prst="rect">
            <a:avLst/>
          </a:prstGeom>
          <a:solidFill>
            <a:srgbClr val="0F2A1E"/>
          </a:solidFill>
          <a:ln/>
        </p:spPr>
      </p:sp>
      <p:sp>
        <p:nvSpPr>
          <p:cNvPr id="48" name="Text 46"/>
          <p:cNvSpPr/>
          <p:nvPr/>
        </p:nvSpPr>
        <p:spPr>
          <a:xfrm>
            <a:off x="5532120" y="3849624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8D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Supports Cash and UPI payments with dynamic QR code scanning support.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732520" y="3931920"/>
            <a:ext cx="347472" cy="292608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50" name="Text 48"/>
          <p:cNvSpPr/>
          <p:nvPr/>
        </p:nvSpPr>
        <p:spPr>
          <a:xfrm>
            <a:off x="8732520" y="393192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74320" y="4407408"/>
            <a:ext cx="1874520" cy="566928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52" name="Text 50"/>
          <p:cNvSpPr/>
          <p:nvPr/>
        </p:nvSpPr>
        <p:spPr>
          <a:xfrm>
            <a:off x="292608" y="44622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Cost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286000" y="4407408"/>
            <a:ext cx="3017520" cy="566928"/>
          </a:xfrm>
          <a:prstGeom prst="rect">
            <a:avLst/>
          </a:prstGeom>
          <a:solidFill>
            <a:srgbClr val="3A1A1A"/>
          </a:solidFill>
          <a:ln/>
        </p:spPr>
      </p:sp>
      <p:sp>
        <p:nvSpPr>
          <p:cNvPr id="54" name="Text 52"/>
          <p:cNvSpPr/>
          <p:nvPr/>
        </p:nvSpPr>
        <p:spPr>
          <a:xfrm>
            <a:off x="2331720" y="4453128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Stock and raw material costs tracked manually or not at all.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486400" y="4407408"/>
            <a:ext cx="3200400" cy="566928"/>
          </a:xfrm>
          <a:prstGeom prst="rect">
            <a:avLst/>
          </a:prstGeom>
          <a:solidFill>
            <a:srgbClr val="0F2A1E"/>
          </a:solidFill>
          <a:ln/>
        </p:spPr>
      </p:sp>
      <p:sp>
        <p:nvSpPr>
          <p:cNvPr id="56" name="Text 54"/>
          <p:cNvSpPr/>
          <p:nvPr/>
        </p:nvSpPr>
        <p:spPr>
          <a:xfrm>
            <a:off x="5532120" y="4453128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8D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Raw materials purchase logger with profit calculation and monthly cost breakdown.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8732520" y="4535424"/>
            <a:ext cx="347472" cy="292608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58" name="Text 56"/>
          <p:cNvSpPr/>
          <p:nvPr/>
        </p:nvSpPr>
        <p:spPr>
          <a:xfrm>
            <a:off x="8732520" y="453542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74320" y="4873752"/>
            <a:ext cx="8595360" cy="201168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60" name="Text 58"/>
          <p:cNvSpPr/>
          <p:nvPr/>
        </p:nvSpPr>
        <p:spPr>
          <a:xfrm>
            <a:off x="320040" y="48828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Citations: [1] Azhari &amp; Sutarman 2024  ·  [2] Margate et al. 2020 (IEEE)  ·  [3] Melvin et al. 2023  ·  New = novel contribution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8595360" y="47548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C17E2A"/>
          </a:solidFill>
          <a:ln/>
        </p:spPr>
      </p:sp>
      <p:pic>
        <p:nvPicPr>
          <p:cNvPr id="4" name="Image 0" descr="/home/claude/media_image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48640"/>
            <a:ext cx="3383280" cy="3383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389120"/>
            <a:ext cx="4389120" cy="754380"/>
          </a:xfrm>
          <a:prstGeom prst="rect">
            <a:avLst/>
          </a:prstGeom>
          <a:solidFill>
            <a:srgbClr val="EDE8DF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0" y="502920"/>
            <a:ext cx="4389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CHAI-TIME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4800" dirty="0"/>
          </a:p>
        </p:txBody>
      </p:sp>
      <p:sp>
        <p:nvSpPr>
          <p:cNvPr id="7" name="Shape 4"/>
          <p:cNvSpPr/>
          <p:nvPr/>
        </p:nvSpPr>
        <p:spPr>
          <a:xfrm>
            <a:off x="4572000" y="2578608"/>
            <a:ext cx="3200400" cy="45720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0" y="274320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Diagram — System Architecture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0" y="4480560"/>
            <a:ext cx="4389120" cy="45720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572000" y="45720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https://chai-time.netlify.app/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DIAGRAM</a:t>
            </a:r>
            <a:endParaRPr lang="en-US" sz="1100" dirty="0"/>
          </a:p>
        </p:txBody>
      </p:sp>
      <p:pic>
        <p:nvPicPr>
          <p:cNvPr id="4" name="Image 0" descr="/home/claude/media_image1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566928"/>
            <a:ext cx="8595360" cy="4434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B2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4" name="Shape 2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9728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spc="800" kern="0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286000" y="3246120"/>
            <a:ext cx="4572000" cy="36576"/>
          </a:xfrm>
          <a:prstGeom prst="rect">
            <a:avLst/>
          </a:prstGeom>
          <a:solidFill>
            <a:srgbClr val="C17E2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4015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6379769351   |   +91 9080854488   |   +91 9345557536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thechaitime2026@gmail.com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2793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https://chai-time.netlify.app/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1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Chai Time POS System - First Review</dc:title>
  <dc:subject>PptxGenJS Presentation</dc:subject>
  <dc:creator>PptxGenJS</dc:creator>
  <cp:lastModifiedBy>PptxGenJS</cp:lastModifiedBy>
  <cp:revision>1</cp:revision>
  <dcterms:created xsi:type="dcterms:W3CDTF">2026-03-29T09:41:20Z</dcterms:created>
  <dcterms:modified xsi:type="dcterms:W3CDTF">2026-03-29T09:41:20Z</dcterms:modified>
</cp:coreProperties>
</file>