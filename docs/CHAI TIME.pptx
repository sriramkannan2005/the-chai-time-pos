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1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5B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9;p2"/>
          <p:cNvSpPr/>
          <p:nvPr/>
        </p:nvSpPr>
        <p:spPr>
          <a:xfrm>
            <a:off x="0" y="-8280"/>
            <a:ext cx="9143640" cy="5159520"/>
          </a:xfrm>
          <a:prstGeom prst="rect">
            <a:avLst/>
          </a:prstGeom>
          <a:solidFill>
            <a:srgbClr val="4F5B4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2215080" y="1276200"/>
            <a:ext cx="6323400" cy="2452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47;p11"/>
          <p:cNvSpPr/>
          <p:nvPr/>
        </p:nvSpPr>
        <p:spPr>
          <a:xfrm>
            <a:off x="0" y="0"/>
            <a:ext cx="9143640" cy="515952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284120" y="1953000"/>
            <a:ext cx="6575760" cy="799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80000"/>
              </a:lnSpc>
              <a:buNone/>
            </a:pPr>
            <a:r>
              <a:rPr lang="fr-FR" sz="6000" b="0" u="none" strike="noStrike">
                <a:solidFill>
                  <a:schemeClr val="accent1"/>
                </a:solidFill>
                <a:effectLst/>
                <a:uFillTx/>
                <a:latin typeface="Zalando Sans Expanded ExtraLight"/>
                <a:ea typeface="Zalando Sans Expanded ExtraLight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2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2;p13"/>
          <p:cNvSpPr/>
          <p:nvPr/>
        </p:nvSpPr>
        <p:spPr>
          <a:xfrm>
            <a:off x="0" y="0"/>
            <a:ext cx="9143640" cy="515952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865520" y="387216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80000"/>
              </a:lnSpc>
              <a:buNone/>
            </a:pPr>
            <a:r>
              <a:rPr lang="fr-FR" sz="2000" b="0" u="none" strike="noStrike">
                <a:solidFill>
                  <a:schemeClr val="accent3"/>
                </a:solidFill>
                <a:effectLst/>
                <a:uFillTx/>
                <a:latin typeface="Zalando Sans Expanded Medium"/>
                <a:ea typeface="Zalando Sans Expanded Medium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title"/>
          </p:nvPr>
        </p:nvSpPr>
        <p:spPr>
          <a:xfrm>
            <a:off x="1865520" y="257976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80000"/>
              </a:lnSpc>
              <a:buNone/>
            </a:pPr>
            <a:r>
              <a:rPr lang="fr-FR" sz="2000" b="0" u="none" strike="noStrike">
                <a:solidFill>
                  <a:schemeClr val="accent3"/>
                </a:solidFill>
                <a:effectLst/>
                <a:uFillTx/>
                <a:latin typeface="Zalando Sans Expanded Medium"/>
                <a:ea typeface="Zalando Sans Expanded Medium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title"/>
          </p:nvPr>
        </p:nvSpPr>
        <p:spPr>
          <a:xfrm>
            <a:off x="1866600" y="1933560"/>
            <a:ext cx="86400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80000"/>
              </a:lnSpc>
              <a:buNone/>
            </a:pPr>
            <a:r>
              <a:rPr lang="fr-FR" sz="2000" b="0" u="none" strike="noStrike">
                <a:solidFill>
                  <a:schemeClr val="accent3"/>
                </a:solidFill>
                <a:effectLst/>
                <a:uFillTx/>
                <a:latin typeface="Zalando Sans Expanded Medium"/>
                <a:ea typeface="Zalando Sans Expanded Medium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title"/>
          </p:nvPr>
        </p:nvSpPr>
        <p:spPr>
          <a:xfrm>
            <a:off x="1865520" y="322596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80000"/>
              </a:lnSpc>
              <a:buNone/>
            </a:pPr>
            <a:r>
              <a:rPr lang="fr-FR" sz="2000" b="0" u="none" strike="noStrike">
                <a:solidFill>
                  <a:schemeClr val="accent3"/>
                </a:solidFill>
                <a:effectLst/>
                <a:uFillTx/>
                <a:latin typeface="Zalando Sans Expanded Medium"/>
                <a:ea typeface="Zalando Sans Expanded Medium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title"/>
          </p:nvPr>
        </p:nvSpPr>
        <p:spPr>
          <a:xfrm>
            <a:off x="5622840" y="257976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80000"/>
              </a:lnSpc>
              <a:buNone/>
            </a:pPr>
            <a:r>
              <a:rPr lang="fr-FR" sz="2000" b="0" u="none" strike="noStrike">
                <a:solidFill>
                  <a:schemeClr val="accent3"/>
                </a:solidFill>
                <a:effectLst/>
                <a:uFillTx/>
                <a:latin typeface="Zalando Sans Expanded Medium"/>
                <a:ea typeface="Zalando Sans Expanded Medium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title"/>
          </p:nvPr>
        </p:nvSpPr>
        <p:spPr>
          <a:xfrm>
            <a:off x="5622840" y="322596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80000"/>
              </a:lnSpc>
              <a:buNone/>
            </a:pPr>
            <a:r>
              <a:rPr lang="fr-FR" sz="2000" b="0" u="none" strike="noStrike">
                <a:solidFill>
                  <a:schemeClr val="accent3"/>
                </a:solidFill>
                <a:effectLst/>
                <a:uFillTx/>
                <a:latin typeface="Zalando Sans Expanded Medium"/>
                <a:ea typeface="Zalando Sans Expanded Medium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7"/>
          <p:cNvSpPr>
            <a:spLocks noGrp="1"/>
          </p:cNvSpPr>
          <p:nvPr>
            <p:ph type="title"/>
          </p:nvPr>
        </p:nvSpPr>
        <p:spPr>
          <a:xfrm>
            <a:off x="5622840" y="387216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80000"/>
              </a:lnSpc>
              <a:buNone/>
            </a:pPr>
            <a:r>
              <a:rPr lang="fr-FR" sz="2000" b="0" u="none" strike="noStrike">
                <a:solidFill>
                  <a:schemeClr val="accent3"/>
                </a:solidFill>
                <a:effectLst/>
                <a:uFillTx/>
                <a:latin typeface="Zalando Sans Expanded Medium"/>
                <a:ea typeface="Zalando Sans Expanded Medium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8"/>
          <p:cNvSpPr>
            <a:spLocks noGrp="1"/>
          </p:cNvSpPr>
          <p:nvPr>
            <p:ph type="title"/>
          </p:nvPr>
        </p:nvSpPr>
        <p:spPr>
          <a:xfrm>
            <a:off x="5622840" y="193356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80000"/>
              </a:lnSpc>
              <a:buNone/>
            </a:pPr>
            <a:r>
              <a:rPr lang="fr-FR" sz="2000" b="0" u="none" strike="noStrike">
                <a:solidFill>
                  <a:schemeClr val="accent3"/>
                </a:solidFill>
                <a:effectLst/>
                <a:uFillTx/>
                <a:latin typeface="Zalando Sans Expanded Medium"/>
                <a:ea typeface="Zalando Sans Expanded Medium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9"/>
          <p:cNvSpPr>
            <a:spLocks noGrp="1"/>
          </p:cNvSpPr>
          <p:nvPr>
            <p:ph type="title"/>
          </p:nvPr>
        </p:nvSpPr>
        <p:spPr>
          <a:xfrm>
            <a:off x="4498920" y="274680"/>
            <a:ext cx="4416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71;p14"/>
          <p:cNvSpPr/>
          <p:nvPr/>
        </p:nvSpPr>
        <p:spPr>
          <a:xfrm>
            <a:off x="0" y="0"/>
            <a:ext cx="9143640" cy="515952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19040" y="471600"/>
            <a:ext cx="7486560" cy="1204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75;p15"/>
          <p:cNvSpPr/>
          <p:nvPr/>
        </p:nvSpPr>
        <p:spPr>
          <a:xfrm>
            <a:off x="0" y="0"/>
            <a:ext cx="9143640" cy="515952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228600" y="297720"/>
            <a:ext cx="5320440" cy="1251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943560" y="2308320"/>
            <a:ext cx="4358520" cy="1917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345000" y="0"/>
            <a:ext cx="279828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5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80;p16"/>
          <p:cNvSpPr/>
          <p:nvPr/>
        </p:nvSpPr>
        <p:spPr>
          <a:xfrm>
            <a:off x="0" y="0"/>
            <a:ext cx="9143640" cy="515952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228600" y="300600"/>
            <a:ext cx="2154960" cy="822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83;p17"/>
          <p:cNvSpPr/>
          <p:nvPr/>
        </p:nvSpPr>
        <p:spPr>
          <a:xfrm>
            <a:off x="0" y="0"/>
            <a:ext cx="9143640" cy="515952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313880" y="301320"/>
            <a:ext cx="4596120" cy="749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86;p18"/>
          <p:cNvSpPr/>
          <p:nvPr/>
        </p:nvSpPr>
        <p:spPr>
          <a:xfrm>
            <a:off x="0" y="0"/>
            <a:ext cx="9143640" cy="515952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1333440" y="2709000"/>
            <a:ext cx="67860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80000"/>
              </a:lnSpc>
              <a:buNone/>
            </a:pPr>
            <a:r>
              <a:rPr lang="fr-FR" sz="2000" b="0" u="none" strike="noStrike">
                <a:solidFill>
                  <a:schemeClr val="accent3"/>
                </a:solidFill>
                <a:effectLst/>
                <a:uFillTx/>
                <a:latin typeface="Zalando Sans Expanded Medium"/>
                <a:ea typeface="Zalando Sans Expanded Medium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title"/>
          </p:nvPr>
        </p:nvSpPr>
        <p:spPr>
          <a:xfrm>
            <a:off x="1333440" y="1585800"/>
            <a:ext cx="67752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80000"/>
              </a:lnSpc>
              <a:buNone/>
            </a:pPr>
            <a:r>
              <a:rPr lang="fr-FR" sz="2000" b="0" u="none" strike="noStrike">
                <a:solidFill>
                  <a:schemeClr val="accent3"/>
                </a:solidFill>
                <a:effectLst/>
                <a:uFillTx/>
                <a:latin typeface="Zalando Sans Expanded Medium"/>
                <a:ea typeface="Zalando Sans Expanded Medium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title"/>
          </p:nvPr>
        </p:nvSpPr>
        <p:spPr>
          <a:xfrm>
            <a:off x="1333440" y="3832200"/>
            <a:ext cx="67860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80000"/>
              </a:lnSpc>
              <a:buNone/>
            </a:pPr>
            <a:r>
              <a:rPr lang="fr-FR" sz="2000" b="0" u="none" strike="noStrike">
                <a:solidFill>
                  <a:schemeClr val="accent3"/>
                </a:solidFill>
                <a:effectLst/>
                <a:uFillTx/>
                <a:latin typeface="Zalando Sans Expanded Medium"/>
                <a:ea typeface="Zalando Sans Expanded Medium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title"/>
          </p:nvPr>
        </p:nvSpPr>
        <p:spPr>
          <a:xfrm>
            <a:off x="228600" y="297720"/>
            <a:ext cx="2022120" cy="802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95;p19"/>
          <p:cNvSpPr/>
          <p:nvPr/>
        </p:nvSpPr>
        <p:spPr>
          <a:xfrm>
            <a:off x="0" y="0"/>
            <a:ext cx="9143640" cy="515952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929840" y="300600"/>
            <a:ext cx="3985200" cy="760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3" name="PlaceHolder 2"/>
          <p:cNvSpPr>
            <a:spLocks noGrp="1"/>
          </p:cNvSpPr>
          <p:nvPr>
            <p:ph type="title"/>
          </p:nvPr>
        </p:nvSpPr>
        <p:spPr>
          <a:xfrm>
            <a:off x="7221960" y="350676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80000"/>
              </a:lnSpc>
              <a:buNone/>
            </a:pPr>
            <a:r>
              <a:rPr lang="fr-FR" sz="2000" b="0" u="none" strike="noStrike">
                <a:solidFill>
                  <a:schemeClr val="accent3"/>
                </a:solidFill>
                <a:effectLst/>
                <a:uFillTx/>
                <a:latin typeface="Zalando Sans Expanded Medium"/>
                <a:ea typeface="Zalando Sans Expanded Medium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title"/>
          </p:nvPr>
        </p:nvSpPr>
        <p:spPr>
          <a:xfrm>
            <a:off x="7221960" y="177840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80000"/>
              </a:lnSpc>
              <a:buNone/>
            </a:pPr>
            <a:r>
              <a:rPr lang="fr-FR" sz="2000" b="0" u="none" strike="noStrike">
                <a:solidFill>
                  <a:schemeClr val="accent3"/>
                </a:solidFill>
                <a:effectLst/>
                <a:uFillTx/>
                <a:latin typeface="Zalando Sans Expanded Medium"/>
                <a:ea typeface="Zalando Sans Expanded Medium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title"/>
          </p:nvPr>
        </p:nvSpPr>
        <p:spPr>
          <a:xfrm>
            <a:off x="4550400" y="1778760"/>
            <a:ext cx="86400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80000"/>
              </a:lnSpc>
              <a:buNone/>
            </a:pPr>
            <a:r>
              <a:rPr lang="fr-FR" sz="2000" b="0" u="none" strike="noStrike">
                <a:solidFill>
                  <a:schemeClr val="accent3"/>
                </a:solidFill>
                <a:effectLst/>
                <a:uFillTx/>
                <a:latin typeface="Zalando Sans Expanded Medium"/>
                <a:ea typeface="Zalando Sans Expanded Medium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title"/>
          </p:nvPr>
        </p:nvSpPr>
        <p:spPr>
          <a:xfrm>
            <a:off x="4549680" y="350676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80000"/>
              </a:lnSpc>
              <a:buNone/>
            </a:pPr>
            <a:r>
              <a:rPr lang="fr-FR" sz="2000" b="0" u="none" strike="noStrike">
                <a:solidFill>
                  <a:schemeClr val="accent3"/>
                </a:solidFill>
                <a:effectLst/>
                <a:uFillTx/>
                <a:latin typeface="Zalando Sans Expanded Medium"/>
                <a:ea typeface="Zalando Sans Expanded Medium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title"/>
          </p:nvPr>
        </p:nvSpPr>
        <p:spPr>
          <a:xfrm>
            <a:off x="1877400" y="177840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80000"/>
              </a:lnSpc>
              <a:buNone/>
            </a:pPr>
            <a:r>
              <a:rPr lang="fr-FR" sz="2000" b="0" u="none" strike="noStrike">
                <a:solidFill>
                  <a:schemeClr val="accent3"/>
                </a:solidFill>
                <a:effectLst/>
                <a:uFillTx/>
                <a:latin typeface="Zalando Sans Expanded Medium"/>
                <a:ea typeface="Zalando Sans Expanded Medium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title"/>
          </p:nvPr>
        </p:nvSpPr>
        <p:spPr>
          <a:xfrm>
            <a:off x="1877400" y="350676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80000"/>
              </a:lnSpc>
              <a:buNone/>
            </a:pPr>
            <a:r>
              <a:rPr lang="fr-FR" sz="2000" b="0" u="none" strike="noStrike">
                <a:solidFill>
                  <a:schemeClr val="accent3"/>
                </a:solidFill>
                <a:effectLst/>
                <a:uFillTx/>
                <a:latin typeface="Zalando Sans Expanded Medium"/>
                <a:ea typeface="Zalando Sans Expanded Medium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110;p20"/>
          <p:cNvSpPr/>
          <p:nvPr/>
        </p:nvSpPr>
        <p:spPr>
          <a:xfrm>
            <a:off x="0" y="0"/>
            <a:ext cx="9143640" cy="515952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21360" y="956520"/>
            <a:ext cx="5447520" cy="754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80000"/>
              </a:lnSpc>
              <a:buNone/>
            </a:pPr>
            <a:r>
              <a:rPr lang="fr-FR" sz="4500" b="0" u="none" strike="noStrike">
                <a:solidFill>
                  <a:schemeClr val="accent3"/>
                </a:solidFill>
                <a:effectLst/>
                <a:uFillTx/>
                <a:latin typeface="Zalando Sans Expanded ExtraLight"/>
                <a:ea typeface="Zalando Sans Expanded ExtraLight"/>
              </a:rPr>
              <a:t>xx%</a:t>
            </a:r>
            <a:endParaRPr lang="fr-FR" sz="4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title"/>
          </p:nvPr>
        </p:nvSpPr>
        <p:spPr>
          <a:xfrm>
            <a:off x="621360" y="3141000"/>
            <a:ext cx="5447520" cy="754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80000"/>
              </a:lnSpc>
              <a:buNone/>
            </a:pPr>
            <a:r>
              <a:rPr lang="fr-FR" sz="4500" b="0" u="none" strike="noStrike">
                <a:solidFill>
                  <a:schemeClr val="accent3"/>
                </a:solidFill>
                <a:effectLst/>
                <a:uFillTx/>
                <a:latin typeface="Zalando Sans Expanded ExtraLight"/>
                <a:ea typeface="Zalando Sans Expanded ExtraLight"/>
              </a:rPr>
              <a:t>xx%</a:t>
            </a:r>
            <a:endParaRPr lang="fr-FR" sz="4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13;p3"/>
          <p:cNvSpPr/>
          <p:nvPr/>
        </p:nvSpPr>
        <p:spPr>
          <a:xfrm>
            <a:off x="0" y="-8280"/>
            <a:ext cx="9143640" cy="5159520"/>
          </a:xfrm>
          <a:prstGeom prst="rect">
            <a:avLst/>
          </a:prstGeom>
          <a:solidFill>
            <a:srgbClr val="4F5B4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2662560" y="3397680"/>
            <a:ext cx="6134400" cy="1059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4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4" name="PlaceHolder 2"/>
          <p:cNvSpPr>
            <a:spLocks noGrp="1"/>
          </p:cNvSpPr>
          <p:nvPr>
            <p:ph type="title"/>
          </p:nvPr>
        </p:nvSpPr>
        <p:spPr>
          <a:xfrm>
            <a:off x="332280" y="228600"/>
            <a:ext cx="1267920" cy="1269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80000"/>
              </a:lnSpc>
              <a:buNone/>
            </a:pPr>
            <a:r>
              <a:rPr lang="fr-FR" sz="6000" b="0" u="none" strike="noStrike">
                <a:solidFill>
                  <a:schemeClr val="accent2"/>
                </a:solidFill>
                <a:effectLst/>
                <a:uFillTx/>
                <a:latin typeface="Zalando Sans Expanded Medium"/>
                <a:ea typeface="Zalando Sans Expanded Medium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116;p21"/>
          <p:cNvSpPr/>
          <p:nvPr/>
        </p:nvSpPr>
        <p:spPr>
          <a:xfrm>
            <a:off x="0" y="-8280"/>
            <a:ext cx="9143640" cy="5159520"/>
          </a:xfrm>
          <a:prstGeom prst="rect">
            <a:avLst/>
          </a:prstGeom>
          <a:solidFill>
            <a:srgbClr val="4F5B4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5547600" y="363600"/>
            <a:ext cx="3367440" cy="1613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8" name="Google Shape;119;p21"/>
          <p:cNvSpPr/>
          <p:nvPr/>
        </p:nvSpPr>
        <p:spPr>
          <a:xfrm>
            <a:off x="1965600" y="4008240"/>
            <a:ext cx="3871440" cy="55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" sz="1000" b="1" u="none" strike="noStrike">
                <a:solidFill>
                  <a:schemeClr val="accent1"/>
                </a:solidFill>
                <a:effectLst/>
                <a:uFillTx/>
                <a:latin typeface="arial"/>
                <a:ea typeface="arial"/>
              </a:rPr>
              <a:t>CREDITS:</a:t>
            </a:r>
            <a:r>
              <a:rPr lang="en" sz="1000" b="0" u="none" strike="noStrike">
                <a:solidFill>
                  <a:schemeClr val="accent1"/>
                </a:solidFill>
                <a:effectLst/>
                <a:uFillTx/>
                <a:latin typeface="arial"/>
                <a:ea typeface="arial"/>
              </a:rPr>
              <a:t> This presentation template was created by </a:t>
            </a:r>
            <a:r>
              <a:rPr lang="en" sz="1000" b="1" u="sng" strike="noStrike">
                <a:solidFill>
                  <a:schemeClr val="accent1"/>
                </a:solidFill>
                <a:effectLst/>
                <a:uFillTx/>
                <a:latin typeface="arial"/>
                <a:ea typeface="arial"/>
                <a:hlinkClick r:id="rId2"/>
              </a:rPr>
              <a:t>Slidesgo</a:t>
            </a:r>
            <a:r>
              <a:rPr lang="en" sz="1000" b="0" u="none" strike="noStrike">
                <a:solidFill>
                  <a:schemeClr val="accent1"/>
                </a:solidFill>
                <a:effectLst/>
                <a:uFillTx/>
                <a:latin typeface="arial"/>
                <a:ea typeface="arial"/>
              </a:rPr>
              <a:t>, and includes icons, infographics &amp; images by </a:t>
            </a:r>
            <a:r>
              <a:rPr lang="en" sz="1000" b="1" u="sng" strike="noStrike">
                <a:solidFill>
                  <a:schemeClr val="accent1"/>
                </a:solidFill>
                <a:effectLst/>
                <a:uFillTx/>
                <a:latin typeface="arial"/>
                <a:ea typeface="arial"/>
                <a:hlinkClick r:id="rId3"/>
              </a:rPr>
              <a:t>Freepik</a:t>
            </a:r>
            <a:r>
              <a:rPr lang="en" sz="1000" b="0" u="none" strike="noStrike">
                <a:solidFill>
                  <a:schemeClr val="accent1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121;p22"/>
          <p:cNvSpPr/>
          <p:nvPr/>
        </p:nvSpPr>
        <p:spPr>
          <a:xfrm>
            <a:off x="0" y="0"/>
            <a:ext cx="9143640" cy="515952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123;p23"/>
          <p:cNvSpPr/>
          <p:nvPr/>
        </p:nvSpPr>
        <p:spPr>
          <a:xfrm>
            <a:off x="0" y="-8280"/>
            <a:ext cx="9143640" cy="5159520"/>
          </a:xfrm>
          <a:prstGeom prst="rect">
            <a:avLst/>
          </a:prstGeom>
          <a:solidFill>
            <a:srgbClr val="4F5B4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17;p4"/>
          <p:cNvSpPr/>
          <p:nvPr/>
        </p:nvSpPr>
        <p:spPr>
          <a:xfrm>
            <a:off x="0" y="0"/>
            <a:ext cx="9143640" cy="515952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720000" y="1152360"/>
            <a:ext cx="770364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21;p5"/>
          <p:cNvSpPr/>
          <p:nvPr/>
        </p:nvSpPr>
        <p:spPr>
          <a:xfrm>
            <a:off x="0" y="0"/>
            <a:ext cx="9143640" cy="515952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939000" y="294840"/>
            <a:ext cx="1976040" cy="745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28;p6"/>
          <p:cNvSpPr/>
          <p:nvPr/>
        </p:nvSpPr>
        <p:spPr>
          <a:xfrm>
            <a:off x="0" y="0"/>
            <a:ext cx="9143640" cy="515952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720000" y="27468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31;p7"/>
          <p:cNvSpPr/>
          <p:nvPr/>
        </p:nvSpPr>
        <p:spPr>
          <a:xfrm>
            <a:off x="0" y="0"/>
            <a:ext cx="9143640" cy="515952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3998160" cy="1445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1609560" y="2066040"/>
            <a:ext cx="3823920" cy="2532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5715720" y="0"/>
            <a:ext cx="342792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36;p8"/>
          <p:cNvSpPr/>
          <p:nvPr/>
        </p:nvSpPr>
        <p:spPr>
          <a:xfrm>
            <a:off x="0" y="0"/>
            <a:ext cx="9143640" cy="5159520"/>
          </a:xfrm>
          <a:prstGeom prst="rect">
            <a:avLst/>
          </a:pr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388160" y="1307160"/>
            <a:ext cx="6367320" cy="252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39;p9"/>
          <p:cNvSpPr/>
          <p:nvPr/>
        </p:nvSpPr>
        <p:spPr>
          <a:xfrm>
            <a:off x="0" y="0"/>
            <a:ext cx="9143640" cy="515952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67" name="PlaceHolder 2"/>
          <p:cNvSpPr>
            <a:spLocks noGrp="1"/>
          </p:cNvSpPr>
          <p:nvPr>
            <p:ph type="title"/>
          </p:nvPr>
        </p:nvSpPr>
        <p:spPr>
          <a:xfrm>
            <a:off x="228600" y="4521240"/>
            <a:ext cx="2822400" cy="39312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1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129;p26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771732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132;p27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728640" y="539640"/>
            <a:ext cx="334728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2" name="PlaceHolder 2"/>
          <p:cNvSpPr>
            <a:spLocks noGrp="1"/>
          </p:cNvSpPr>
          <p:nvPr>
            <p:ph type="title"/>
          </p:nvPr>
        </p:nvSpPr>
        <p:spPr>
          <a:xfrm>
            <a:off x="4977720" y="539640"/>
            <a:ext cx="345816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oogle Shape;139;p28"/>
          <p:cNvGrpSpPr/>
          <p:nvPr/>
        </p:nvGrpSpPr>
        <p:grpSpPr>
          <a:xfrm>
            <a:off x="1524600" y="-18360"/>
            <a:ext cx="7680600" cy="5223960"/>
            <a:chOff x="1524600" y="-18360"/>
            <a:chExt cx="7680600" cy="5223960"/>
          </a:xfrm>
        </p:grpSpPr>
        <p:cxnSp>
          <p:nvCxnSpPr>
            <p:cNvPr id="74" name="Google Shape;140;p28"/>
            <p:cNvCxnSpPr/>
            <p:nvPr/>
          </p:nvCxnSpPr>
          <p:spPr>
            <a:xfrm>
              <a:off x="1536120" y="-18360"/>
              <a:ext cx="360" cy="5224320"/>
            </a:xfrm>
            <a:prstGeom prst="straightConnector1">
              <a:avLst/>
            </a:prstGeom>
            <a:ln w="9525">
              <a:solidFill>
                <a:srgbClr val="FFFFFF"/>
              </a:solidFill>
              <a:round/>
            </a:ln>
          </p:spPr>
        </p:cxnSp>
        <p:cxnSp>
          <p:nvCxnSpPr>
            <p:cNvPr id="75" name="Google Shape;141;p28"/>
            <p:cNvCxnSpPr/>
            <p:nvPr/>
          </p:nvCxnSpPr>
          <p:spPr>
            <a:xfrm flipH="1">
              <a:off x="1524600" y="3939480"/>
              <a:ext cx="7680960" cy="360"/>
            </a:xfrm>
            <a:prstGeom prst="straightConnector1">
              <a:avLst/>
            </a:prstGeom>
            <a:ln w="9525">
              <a:solidFill>
                <a:srgbClr val="FFFFFF"/>
              </a:solidFill>
              <a:round/>
            </a:ln>
          </p:spPr>
        </p:cxnSp>
      </p:grpSp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2219400" y="1276200"/>
            <a:ext cx="6324120" cy="2457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algn="r">
              <a:lnSpc>
                <a:spcPct val="80000"/>
              </a:lnSpc>
              <a:tabLst>
                <a:tab pos="0" algn="l"/>
              </a:tabLst>
            </a:pPr>
            <a:br>
              <a:rPr lang="en-IN" dirty="0"/>
            </a:br>
            <a:r>
              <a:rPr lang="en-US" sz="6600" dirty="0">
                <a:solidFill>
                  <a:schemeClr val="accent1"/>
                </a:solidFill>
                <a:latin typeface="Zalando Sans Expanded ExtraLight"/>
                <a:ea typeface="Zalando Sans Expanded ExtraLight"/>
              </a:rPr>
              <a:t>CHAI-TIME</a:t>
            </a:r>
            <a:r>
              <a:rPr lang="en-US" sz="6600" b="0" u="none" strike="noStrike" dirty="0">
                <a:solidFill>
                  <a:schemeClr val="accent1"/>
                </a:solidFill>
                <a:effectLst/>
                <a:uFillTx/>
                <a:latin typeface="Zalando Sans Expanded ExtraLight"/>
                <a:ea typeface="Zalando Sans Expanded ExtraLight"/>
              </a:rPr>
              <a:t> POS</a:t>
            </a:r>
            <a:r>
              <a:rPr lang="en-US" sz="8300" b="0" u="none" strike="noStrike" dirty="0">
                <a:solidFill>
                  <a:schemeClr val="accent1"/>
                </a:solidFill>
                <a:effectLst/>
                <a:uFillTx/>
                <a:latin typeface="Zalando Sans Expanded Medium"/>
                <a:ea typeface="Zalando Sans Expanded ExtraLight"/>
              </a:rPr>
              <a:t> System</a:t>
            </a:r>
            <a:endParaRPr lang="fr-FR" sz="83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subTitle"/>
          </p:nvPr>
        </p:nvSpPr>
        <p:spPr>
          <a:xfrm>
            <a:off x="5934240" y="4219560"/>
            <a:ext cx="2609640" cy="561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u="none" strike="noStrike">
                <a:solidFill>
                  <a:schemeClr val="accent1"/>
                </a:solidFill>
                <a:effectLst/>
                <a:uFillTx/>
                <a:latin typeface="arial"/>
                <a:ea typeface="arial"/>
              </a:rPr>
              <a:t>Complete POS Solution Master Plan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F4EA38-1725-4063-0B03-CA673E71E50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6917" y="1276200"/>
            <a:ext cx="1887194" cy="190008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oogle Shape;236;p33"/>
          <p:cNvGrpSpPr/>
          <p:nvPr/>
        </p:nvGrpSpPr>
        <p:grpSpPr>
          <a:xfrm>
            <a:off x="-43560" y="-18360"/>
            <a:ext cx="8695080" cy="5223960"/>
            <a:chOff x="-43560" y="-18360"/>
            <a:chExt cx="8695080" cy="5223960"/>
          </a:xfrm>
        </p:grpSpPr>
        <p:cxnSp>
          <p:nvCxnSpPr>
            <p:cNvPr id="80" name="Google Shape;237;p33"/>
            <p:cNvCxnSpPr/>
            <p:nvPr/>
          </p:nvCxnSpPr>
          <p:spPr>
            <a:xfrm>
              <a:off x="8646120" y="-18360"/>
              <a:ext cx="360" cy="5224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81" name="Google Shape;238;p33"/>
            <p:cNvCxnSpPr/>
            <p:nvPr/>
          </p:nvCxnSpPr>
          <p:spPr>
            <a:xfrm flipH="1">
              <a:off x="-43560" y="2094120"/>
              <a:ext cx="869544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</p:grpSp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19040" y="476280"/>
            <a:ext cx="7486200" cy="1209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80000"/>
              </a:lnSpc>
              <a:buNone/>
              <a:tabLst>
                <a:tab pos="0" algn="l"/>
              </a:tabLst>
            </a:pP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Zalando Sans Expanded ExtraLight"/>
                <a:ea typeface="Zalando Sans Expanded ExtraLight"/>
              </a:rPr>
              <a:t>Introduction</a:t>
            </a:r>
            <a:endParaRPr lang="fr-FR" sz="4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ubTitle"/>
          </p:nvPr>
        </p:nvSpPr>
        <p:spPr>
          <a:xfrm>
            <a:off x="2905200" y="2400480"/>
            <a:ext cx="5562360" cy="2295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This presentation summarizes the development of a comprehensive Point of Sale (POS) system tailored for single-shop cafes.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It covers the systems core objectives, design considerations, user roles, and technical architecture aimed at creating a secure, offline-capable, owner-controlled solution with real-time reporting and analytics.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226;p32"/>
          <p:cNvGrpSpPr/>
          <p:nvPr/>
        </p:nvGrpSpPr>
        <p:grpSpPr>
          <a:xfrm>
            <a:off x="1870200" y="-18360"/>
            <a:ext cx="7335000" cy="5223960"/>
            <a:chOff x="1870200" y="-18360"/>
            <a:chExt cx="7335000" cy="5223960"/>
          </a:xfrm>
        </p:grpSpPr>
        <p:cxnSp>
          <p:nvCxnSpPr>
            <p:cNvPr id="85" name="Google Shape;227;p32"/>
            <p:cNvCxnSpPr/>
            <p:nvPr/>
          </p:nvCxnSpPr>
          <p:spPr>
            <a:xfrm>
              <a:off x="1882080" y="-18360"/>
              <a:ext cx="360" cy="5224320"/>
            </a:xfrm>
            <a:prstGeom prst="straightConnector1">
              <a:avLst/>
            </a:prstGeom>
            <a:ln w="9525">
              <a:solidFill>
                <a:srgbClr val="FFFFFF"/>
              </a:solidFill>
              <a:round/>
            </a:ln>
          </p:spPr>
        </p:cxnSp>
        <p:cxnSp>
          <p:nvCxnSpPr>
            <p:cNvPr id="86" name="Google Shape;228;p32"/>
            <p:cNvCxnSpPr/>
            <p:nvPr/>
          </p:nvCxnSpPr>
          <p:spPr>
            <a:xfrm flipH="1">
              <a:off x="1870200" y="2844000"/>
              <a:ext cx="7335360" cy="360"/>
            </a:xfrm>
            <a:prstGeom prst="straightConnector1">
              <a:avLst/>
            </a:prstGeom>
            <a:ln w="9525">
              <a:solidFill>
                <a:srgbClr val="FFFFFF"/>
              </a:solidFill>
              <a:round/>
            </a:ln>
          </p:spPr>
        </p:cxnSp>
      </p:grpSp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2666880" y="3400560"/>
            <a:ext cx="6133680" cy="105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/>
          <a:p>
            <a:pPr indent="0" algn="r">
              <a:lnSpc>
                <a:spcPct val="80000"/>
              </a:lnSpc>
              <a:buNone/>
              <a:tabLst>
                <a:tab pos="0" algn="l"/>
              </a:tabLst>
            </a:pPr>
            <a:r>
              <a:rPr lang="en-US" sz="4600" b="0" u="none" strike="noStrike">
                <a:solidFill>
                  <a:schemeClr val="accent1"/>
                </a:solidFill>
                <a:effectLst/>
                <a:uFillTx/>
                <a:latin typeface="Zalando Sans Expanded ExtraLight"/>
                <a:ea typeface="Zalando Sans Expanded ExtraLight"/>
              </a:rPr>
              <a:t>Project</a:t>
            </a:r>
            <a:r>
              <a:rPr lang="en-US" sz="4600" b="0" u="none" strike="noStrike">
                <a:solidFill>
                  <a:schemeClr val="accent1"/>
                </a:solidFill>
                <a:effectLst/>
                <a:uFillTx/>
                <a:latin typeface="Zalando Sans Expanded Medium"/>
                <a:ea typeface="Zalando Sans Expanded ExtraLight"/>
              </a:rPr>
              <a:t> Overview</a:t>
            </a:r>
            <a:endParaRPr lang="fr-FR" sz="4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title"/>
          </p:nvPr>
        </p:nvSpPr>
        <p:spPr>
          <a:xfrm>
            <a:off x="333360" y="228600"/>
            <a:ext cx="1266480" cy="1266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accent2"/>
                </a:solidFill>
                <a:effectLst/>
                <a:uFillTx/>
                <a:latin typeface="Zalando Sans Expanded Medium"/>
                <a:ea typeface="Zalando Sans Expanded Medium"/>
              </a:rPr>
              <a:t>01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9" name="Google Shape;231;p32"/>
          <p:cNvSpPr/>
          <p:nvPr/>
        </p:nvSpPr>
        <p:spPr>
          <a:xfrm>
            <a:off x="8172360" y="123840"/>
            <a:ext cx="61884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199800" rIns="870823080" bIns="19980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217;p31"/>
          <p:cNvPicPr/>
          <p:nvPr/>
        </p:nvPicPr>
        <p:blipFill>
          <a:blip r:embed="rId2"/>
          <a:srcRect l="15215" r="12233"/>
          <a:stretch/>
        </p:blipFill>
        <p:spPr>
          <a:xfrm>
            <a:off x="6345000" y="0"/>
            <a:ext cx="279828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228600" y="295200"/>
            <a:ext cx="5324040" cy="1247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80000"/>
              </a:lnSpc>
              <a:buNone/>
              <a:tabLst>
                <a:tab pos="0" algn="l"/>
              </a:tabLst>
            </a:pPr>
            <a:r>
              <a:rPr lang="en-US" sz="2600" b="0" u="none" strike="noStrike" dirty="0">
                <a:solidFill>
                  <a:schemeClr val="dk1"/>
                </a:solidFill>
                <a:effectLst/>
                <a:uFillTx/>
                <a:latin typeface="Zalando Sans Expanded ExtraLight"/>
                <a:ea typeface="Zalando Sans Expanded ExtraLight"/>
              </a:rPr>
              <a:t>Title of the Project: </a:t>
            </a:r>
            <a:r>
              <a:rPr lang="en-US" sz="2600" dirty="0">
                <a:solidFill>
                  <a:schemeClr val="dk1"/>
                </a:solidFill>
                <a:latin typeface="Zalando Sans Expanded ExtraLight"/>
                <a:ea typeface="Zalando Sans Expanded ExtraLight"/>
              </a:rPr>
              <a:t>CHAI TIME</a:t>
            </a:r>
            <a:r>
              <a:rPr lang="en-US" sz="2600" b="0" u="none" strike="noStrike" dirty="0">
                <a:solidFill>
                  <a:schemeClr val="dk1"/>
                </a:solidFill>
                <a:effectLst/>
                <a:uFillTx/>
                <a:latin typeface="Zalando Sans Expanded ExtraLight"/>
                <a:ea typeface="Zalando Sans Expanded ExtraLight"/>
              </a:rPr>
              <a:t> CAFE – COMPLETE POS SYSTEM MASTER</a:t>
            </a:r>
            <a:r>
              <a:rPr lang="en-US" sz="2600" b="0" u="none" strike="noStrike" dirty="0">
                <a:solidFill>
                  <a:schemeClr val="dk1"/>
                </a:solidFill>
                <a:effectLst/>
                <a:uFillTx/>
                <a:latin typeface="Zalando Sans Expanded Medium"/>
                <a:ea typeface="Zalando Sans Expanded ExtraLight"/>
              </a:rPr>
              <a:t> PLAN</a:t>
            </a:r>
            <a:endParaRPr lang="fr-FR" sz="2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942840" y="2305080"/>
            <a:ext cx="4362120" cy="1914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85000" lnSpcReduction="19999"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The project titled </a:t>
            </a:r>
            <a:r>
              <a:rPr lang="en-US" sz="1400" i="1" dirty="0">
                <a:solidFill>
                  <a:schemeClr val="dk1"/>
                </a:solidFill>
                <a:latin typeface="arial"/>
                <a:ea typeface="arial"/>
              </a:rPr>
              <a:t>CHAI-TIME </a:t>
            </a:r>
            <a:r>
              <a:rPr lang="en-US" sz="1400" b="0" i="1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CAFE – COMPLETE POS SYSTEM MASTER PLAN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focuses on developing an all-in-one POS system to streamline cafe operations.</a:t>
            </a:r>
            <a:endParaRPr lang="fr-FR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fr-FR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It addresses current challenges such as security, offline functionality, and comprehensive owner control, ensuring efficient transaction management and detailed reporting.</a:t>
            </a:r>
            <a:endParaRPr lang="fr-FR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3" name="Google Shape;220;p31"/>
          <p:cNvCxnSpPr/>
          <p:nvPr/>
        </p:nvCxnSpPr>
        <p:spPr>
          <a:xfrm flipH="1">
            <a:off x="0" y="1690560"/>
            <a:ext cx="634536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cxnSp>
        <p:nvCxnSpPr>
          <p:cNvPr id="94" name="Google Shape;221;p31"/>
          <p:cNvCxnSpPr/>
          <p:nvPr/>
        </p:nvCxnSpPr>
        <p:spPr>
          <a:xfrm>
            <a:off x="6345000" y="-18360"/>
            <a:ext cx="360" cy="522432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oogle Shape;236;p33"/>
          <p:cNvGrpSpPr/>
          <p:nvPr/>
        </p:nvGrpSpPr>
        <p:grpSpPr>
          <a:xfrm>
            <a:off x="-43560" y="-18360"/>
            <a:ext cx="8695080" cy="5223960"/>
            <a:chOff x="-43560" y="-18360"/>
            <a:chExt cx="8695080" cy="5223960"/>
          </a:xfrm>
        </p:grpSpPr>
        <p:cxnSp>
          <p:nvCxnSpPr>
            <p:cNvPr id="96" name="Google Shape;237;p33"/>
            <p:cNvCxnSpPr/>
            <p:nvPr/>
          </p:nvCxnSpPr>
          <p:spPr>
            <a:xfrm>
              <a:off x="8646120" y="-18360"/>
              <a:ext cx="360" cy="5224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97" name="Google Shape;238;p33"/>
            <p:cNvCxnSpPr/>
            <p:nvPr/>
          </p:nvCxnSpPr>
          <p:spPr>
            <a:xfrm flipH="1">
              <a:off x="-43560" y="2094120"/>
              <a:ext cx="869544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</p:grpSp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19040" y="476280"/>
            <a:ext cx="7486200" cy="1209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80000"/>
              </a:lnSpc>
              <a:buNone/>
              <a:tabLst>
                <a:tab pos="0" algn="l"/>
              </a:tabLst>
            </a:pP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Zalando Sans Expanded ExtraLight"/>
                <a:ea typeface="Zalando Sans Expanded ExtraLight"/>
              </a:rPr>
              <a:t>Domain Name: Point of Sale Systems for</a:t>
            </a: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Zalando Sans Expanded Medium"/>
                <a:ea typeface="Zalando Sans Expanded ExtraLight"/>
              </a:rPr>
              <a:t> Retail/Cafes</a:t>
            </a:r>
            <a:endParaRPr lang="fr-FR" sz="4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subTitle"/>
          </p:nvPr>
        </p:nvSpPr>
        <p:spPr>
          <a:xfrm>
            <a:off x="2905200" y="2400480"/>
            <a:ext cx="5562360" cy="2295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The domain centers on </a:t>
            </a:r>
            <a:r>
              <a:rPr lang="en-US" sz="12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Point of Sale Systems for Retail and Cafes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, targeting single-shop establishments.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Key features include cashier billing, real-time owner dashboards, shift management, secure payment processing, and data synchronization supporting both online and offline environments.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236;p33"/>
          <p:cNvGrpSpPr/>
          <p:nvPr/>
        </p:nvGrpSpPr>
        <p:grpSpPr>
          <a:xfrm>
            <a:off x="-43560" y="-18360"/>
            <a:ext cx="8695080" cy="5223960"/>
            <a:chOff x="-43560" y="-18360"/>
            <a:chExt cx="8695080" cy="5223960"/>
          </a:xfrm>
        </p:grpSpPr>
        <p:cxnSp>
          <p:nvCxnSpPr>
            <p:cNvPr id="101" name="Google Shape;237;p33"/>
            <p:cNvCxnSpPr/>
            <p:nvPr/>
          </p:nvCxnSpPr>
          <p:spPr>
            <a:xfrm>
              <a:off x="8646120" y="-18360"/>
              <a:ext cx="360" cy="5224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02" name="Google Shape;238;p33"/>
            <p:cNvCxnSpPr/>
            <p:nvPr/>
          </p:nvCxnSpPr>
          <p:spPr>
            <a:xfrm flipH="1">
              <a:off x="-43560" y="2094120"/>
              <a:ext cx="869544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</p:grpSp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828900" y="127260"/>
            <a:ext cx="7486200" cy="1209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>
              <a:lnSpc>
                <a:spcPct val="80000"/>
              </a:lnSpc>
              <a:buNone/>
              <a:tabLst>
                <a:tab pos="0" algn="l"/>
              </a:tabLst>
            </a:pPr>
            <a:r>
              <a:rPr lang="en-US" sz="4000" b="0" u="none" strike="noStrike" dirty="0">
                <a:solidFill>
                  <a:schemeClr val="dk1"/>
                </a:solidFill>
                <a:effectLst/>
                <a:uFillTx/>
                <a:latin typeface="Zalando Sans Expanded ExtraLight"/>
                <a:ea typeface="Zalando Sans Expanded ExtraLight"/>
              </a:rPr>
              <a:t>Problem Statement: Need for a fast, secure POS system with owner control, offline support, and real-time reporting</a:t>
            </a:r>
            <a:endParaRPr lang="fr-FR" sz="4000" b="0" u="none" strike="noStrike" dirty="0">
              <a:solidFill>
                <a:schemeClr val="dk1"/>
              </a:solidFill>
              <a:effectLst/>
              <a:uFillTx/>
              <a:latin typeface="Zalando Sans Expanded ExtraLight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subTitle"/>
          </p:nvPr>
        </p:nvSpPr>
        <p:spPr>
          <a:xfrm>
            <a:off x="2905200" y="2400480"/>
            <a:ext cx="5562360" cy="2295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The project addresses the need for a </a:t>
            </a:r>
            <a:r>
              <a:rPr lang="en-US" sz="1200" b="1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fast and secure POS system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tailored for single-shop cafes, emphasizing </a:t>
            </a:r>
            <a:r>
              <a:rPr lang="en-US" sz="1200" b="1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complete owner control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with role-based access.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It supports offline operations ensuring business continuity, and provides </a:t>
            </a:r>
            <a:r>
              <a:rPr lang="en-US" sz="1200" b="1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real-time reporting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for informed decision-making. Security features include audit logs and restricted access to sensitive functions.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Google Shape;226;p32"/>
          <p:cNvGrpSpPr/>
          <p:nvPr/>
        </p:nvGrpSpPr>
        <p:grpSpPr>
          <a:xfrm>
            <a:off x="1870200" y="-18360"/>
            <a:ext cx="7335000" cy="5223960"/>
            <a:chOff x="1870200" y="-18360"/>
            <a:chExt cx="7335000" cy="5223960"/>
          </a:xfrm>
        </p:grpSpPr>
        <p:cxnSp>
          <p:nvCxnSpPr>
            <p:cNvPr id="106" name="Google Shape;227;p32"/>
            <p:cNvCxnSpPr/>
            <p:nvPr/>
          </p:nvCxnSpPr>
          <p:spPr>
            <a:xfrm>
              <a:off x="1882080" y="-18360"/>
              <a:ext cx="360" cy="5224320"/>
            </a:xfrm>
            <a:prstGeom prst="straightConnector1">
              <a:avLst/>
            </a:prstGeom>
            <a:ln w="9525">
              <a:solidFill>
                <a:srgbClr val="FFFFFF"/>
              </a:solidFill>
              <a:round/>
            </a:ln>
          </p:spPr>
        </p:cxnSp>
        <p:cxnSp>
          <p:nvCxnSpPr>
            <p:cNvPr id="107" name="Google Shape;228;p32"/>
            <p:cNvCxnSpPr/>
            <p:nvPr/>
          </p:nvCxnSpPr>
          <p:spPr>
            <a:xfrm flipH="1">
              <a:off x="1870200" y="2844000"/>
              <a:ext cx="7335360" cy="360"/>
            </a:xfrm>
            <a:prstGeom prst="straightConnector1">
              <a:avLst/>
            </a:prstGeom>
            <a:ln w="9525">
              <a:solidFill>
                <a:srgbClr val="FFFFFF"/>
              </a:solidFill>
              <a:round/>
            </a:ln>
          </p:spPr>
        </p:cxnSp>
      </p:grpSp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2666880" y="3400560"/>
            <a:ext cx="6133680" cy="105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90000"/>
          </a:bodyPr>
          <a:lstStyle/>
          <a:p>
            <a:pPr indent="0" algn="r">
              <a:lnSpc>
                <a:spcPct val="80000"/>
              </a:lnSpc>
              <a:buNone/>
              <a:tabLst>
                <a:tab pos="0" algn="l"/>
              </a:tabLst>
            </a:pPr>
            <a:r>
              <a:rPr lang="en-US" sz="4600" b="0" u="none" strike="noStrike">
                <a:solidFill>
                  <a:schemeClr val="accent1"/>
                </a:solidFill>
                <a:effectLst/>
                <a:uFillTx/>
                <a:latin typeface="Zalando Sans Expanded ExtraLight"/>
                <a:ea typeface="Zalando Sans Expanded ExtraLight"/>
              </a:rPr>
              <a:t>System Features and</a:t>
            </a:r>
            <a:r>
              <a:rPr lang="en-US" sz="4600" b="0" u="none" strike="noStrike">
                <a:solidFill>
                  <a:schemeClr val="accent1"/>
                </a:solidFill>
                <a:effectLst/>
                <a:uFillTx/>
                <a:latin typeface="Zalando Sans Expanded Medium"/>
                <a:ea typeface="Zalando Sans Expanded ExtraLight"/>
              </a:rPr>
              <a:t> Objectives</a:t>
            </a:r>
            <a:endParaRPr lang="fr-FR" sz="4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title"/>
          </p:nvPr>
        </p:nvSpPr>
        <p:spPr>
          <a:xfrm>
            <a:off x="333360" y="228600"/>
            <a:ext cx="1266480" cy="1266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accent2"/>
                </a:solidFill>
                <a:effectLst/>
                <a:uFillTx/>
                <a:latin typeface="Zalando Sans Expanded Medium"/>
                <a:ea typeface="Zalando Sans Expanded Medium"/>
              </a:rPr>
              <a:t>02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0" name="Google Shape;231;p32"/>
          <p:cNvSpPr/>
          <p:nvPr/>
        </p:nvSpPr>
        <p:spPr>
          <a:xfrm>
            <a:off x="8172360" y="123840"/>
            <a:ext cx="61884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199800" rIns="870823080" bIns="19980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Google Shape;236;p33"/>
          <p:cNvGrpSpPr/>
          <p:nvPr/>
        </p:nvGrpSpPr>
        <p:grpSpPr>
          <a:xfrm>
            <a:off x="-43560" y="-18360"/>
            <a:ext cx="8695080" cy="5223960"/>
            <a:chOff x="-43560" y="-18360"/>
            <a:chExt cx="8695080" cy="5223960"/>
          </a:xfrm>
        </p:grpSpPr>
        <p:cxnSp>
          <p:nvCxnSpPr>
            <p:cNvPr id="112" name="Google Shape;237;p33"/>
            <p:cNvCxnSpPr/>
            <p:nvPr/>
          </p:nvCxnSpPr>
          <p:spPr>
            <a:xfrm>
              <a:off x="8646120" y="-18360"/>
              <a:ext cx="360" cy="5224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13" name="Google Shape;238;p33"/>
            <p:cNvCxnSpPr/>
            <p:nvPr/>
          </p:nvCxnSpPr>
          <p:spPr>
            <a:xfrm flipH="1">
              <a:off x="-43560" y="2094120"/>
              <a:ext cx="869544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</p:grpSp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850219" y="319667"/>
            <a:ext cx="7250840" cy="1992351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80000"/>
              </a:lnSpc>
              <a:buNone/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Zalando Sans Expanded ExtraLight"/>
                <a:ea typeface="Zalando Sans Expanded ExtraLight"/>
              </a:rPr>
              <a:t>Objective: Build a single-shop mini cafe POS with cashier billing, full owner control, secure data, real-time reports, offline support, and investor-ready</a:t>
            </a: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Zalando Sans Expanded Medium"/>
                <a:ea typeface="Zalando Sans Expanded ExtraLight"/>
              </a:rPr>
              <a:t> analytics</a:t>
            </a:r>
            <a:endParaRPr lang="fr-FR" sz="28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subTitle"/>
          </p:nvPr>
        </p:nvSpPr>
        <p:spPr>
          <a:xfrm>
            <a:off x="1641396" y="2593800"/>
            <a:ext cx="5562360" cy="2295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The objective is to develop a </a:t>
            </a:r>
            <a:r>
              <a:rPr lang="en-US" sz="1200" b="1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mini cafe POS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system enabling fast billing by cashiers, while granting owners full control over items, cashiers, discounts, and reports.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The system ensures </a:t>
            </a:r>
            <a:r>
              <a:rPr lang="en-US" sz="1200" b="1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secure data management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, supports offline syncing, and generates investor/bank-ready analytics with detailed operational insights.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217;p31"/>
          <p:cNvPicPr/>
          <p:nvPr/>
        </p:nvPicPr>
        <p:blipFill>
          <a:blip r:embed="rId2"/>
          <a:srcRect l="15215" r="12233"/>
          <a:stretch/>
        </p:blipFill>
        <p:spPr>
          <a:xfrm>
            <a:off x="6345000" y="0"/>
            <a:ext cx="279828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228600" y="295200"/>
            <a:ext cx="5324040" cy="1247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80000"/>
              </a:lnSpc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Zalando Sans Expanded ExtraLight"/>
                <a:ea typeface="Zalando Sans Expanded ExtraLight"/>
              </a:rPr>
              <a:t>User Roles: Cashier with billing access, Owner/Admin with full dashboard and</a:t>
            </a: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Zalando Sans Expanded Medium"/>
                <a:ea typeface="Zalando Sans Expanded ExtraLight"/>
              </a:rPr>
              <a:t> control</a:t>
            </a:r>
            <a:endParaRPr lang="fr-FR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942840" y="2305080"/>
            <a:ext cx="4362120" cy="1914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85000" lnSpcReduction="9999"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Users include </a:t>
            </a: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Cashiers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, who log in with passwords and can create bills but only view their own transactions.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Owners/Admins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have secret access via a triple-tap logo, with a full dashboard to manage items, cashiers, discounts, reports, and audits, enforcing strict role-based access control.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9" name="Google Shape;220;p31"/>
          <p:cNvCxnSpPr/>
          <p:nvPr/>
        </p:nvCxnSpPr>
        <p:spPr>
          <a:xfrm flipH="1">
            <a:off x="0" y="1690560"/>
            <a:ext cx="634536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cxnSp>
        <p:nvCxnSpPr>
          <p:cNvPr id="120" name="Google Shape;221;p31"/>
          <p:cNvCxnSpPr/>
          <p:nvPr/>
        </p:nvCxnSpPr>
        <p:spPr>
          <a:xfrm>
            <a:off x="6345000" y="-18360"/>
            <a:ext cx="360" cy="522432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oogle Shape;236;p33"/>
          <p:cNvGrpSpPr/>
          <p:nvPr/>
        </p:nvGrpSpPr>
        <p:grpSpPr>
          <a:xfrm>
            <a:off x="-43560" y="-18360"/>
            <a:ext cx="8695080" cy="5223960"/>
            <a:chOff x="-43560" y="-18360"/>
            <a:chExt cx="8695080" cy="5223960"/>
          </a:xfrm>
        </p:grpSpPr>
        <p:cxnSp>
          <p:nvCxnSpPr>
            <p:cNvPr id="122" name="Google Shape;237;p33"/>
            <p:cNvCxnSpPr/>
            <p:nvPr/>
          </p:nvCxnSpPr>
          <p:spPr>
            <a:xfrm>
              <a:off x="8646120" y="-18360"/>
              <a:ext cx="360" cy="5224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23" name="Google Shape;238;p33"/>
            <p:cNvCxnSpPr/>
            <p:nvPr/>
          </p:nvCxnSpPr>
          <p:spPr>
            <a:xfrm flipH="1">
              <a:off x="-43560" y="2094120"/>
              <a:ext cx="869544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</p:grpSp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828900" y="127260"/>
            <a:ext cx="7486200" cy="1209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>
              <a:lnSpc>
                <a:spcPct val="80000"/>
              </a:lnSpc>
              <a:buNone/>
              <a:tabLst>
                <a:tab pos="0" algn="l"/>
              </a:tabLst>
            </a:pPr>
            <a:r>
              <a:rPr lang="en-US" sz="4000" b="0" u="none" strike="noStrike" dirty="0">
                <a:solidFill>
                  <a:schemeClr val="dk1"/>
                </a:solidFill>
                <a:effectLst/>
                <a:uFillTx/>
                <a:latin typeface="Zalando Sans Expanded ExtraLight"/>
                <a:ea typeface="Zalando Sans Expanded ExtraLight"/>
              </a:rPr>
              <a:t>Key Functionalities: Billing flow, payment modes (Cash, UPI), discount management, shift closing, offline</a:t>
            </a:r>
            <a:r>
              <a:rPr lang="en-US" sz="4000" b="0" u="none" strike="noStrike" dirty="0">
                <a:solidFill>
                  <a:schemeClr val="dk1"/>
                </a:solidFill>
                <a:effectLst/>
                <a:uFillTx/>
                <a:latin typeface="Zalando Sans Expanded Medium"/>
                <a:ea typeface="Zalando Sans Expanded ExtraLight"/>
              </a:rPr>
              <a:t> mode</a:t>
            </a:r>
            <a:endParaRPr lang="fr-FR" sz="4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 type="subTitle"/>
          </p:nvPr>
        </p:nvSpPr>
        <p:spPr>
          <a:xfrm>
            <a:off x="2905200" y="2400480"/>
            <a:ext cx="5562360" cy="2295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The system supports intuitive billing with item selection, payment modes including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Cash and UPI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, and secure payment confirmation.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Discounts are owner-controlled and fixed, with no access for cashiers. Shift closing summarizes cashier sales. Offline mode stores bills locally with auto-sync when back online.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228600" y="295200"/>
            <a:ext cx="5324040" cy="1247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80000"/>
              </a:lnSpc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Zalando Sans Expanded ExtraLight"/>
                <a:ea typeface="Zalando Sans Expanded ExtraLight"/>
              </a:rPr>
              <a:t>Conclusions</a:t>
            </a:r>
            <a:endParaRPr lang="fr-FR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/>
          </p:nvPr>
        </p:nvSpPr>
        <p:spPr>
          <a:xfrm>
            <a:off x="1054352" y="2140755"/>
            <a:ext cx="4362120" cy="1914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The POS system delivers a </a:t>
            </a:r>
            <a:r>
              <a:rPr lang="en-US" sz="1200" b="1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complete solution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for single-shop cafes, combining fast billing, strong security, and comprehensive owner control.</a:t>
            </a:r>
            <a:endParaRPr lang="fr-FR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fr-FR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Its offline capabilities and real-time reporting ensure operational continuity and transparency.</a:t>
            </a:r>
            <a:endParaRPr lang="fr-FR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fr-FR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With investor-ready analytics and audit trails, it supports business growth and compliance requirements effectively.</a:t>
            </a:r>
            <a:endParaRPr lang="fr-FR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9" name="Google Shape;220;p31"/>
          <p:cNvCxnSpPr/>
          <p:nvPr/>
        </p:nvCxnSpPr>
        <p:spPr>
          <a:xfrm flipH="1">
            <a:off x="0" y="1690560"/>
            <a:ext cx="634536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cxnSp>
        <p:nvCxnSpPr>
          <p:cNvPr id="130" name="Google Shape;221;p31"/>
          <p:cNvCxnSpPr/>
          <p:nvPr/>
        </p:nvCxnSpPr>
        <p:spPr>
          <a:xfrm>
            <a:off x="6345000" y="-18360"/>
            <a:ext cx="360" cy="522432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5CE34158-19CF-2B76-B99D-A9E9E01577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5000" y="0"/>
            <a:ext cx="2799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351;p41"/>
          <p:cNvGrpSpPr/>
          <p:nvPr/>
        </p:nvGrpSpPr>
        <p:grpSpPr>
          <a:xfrm>
            <a:off x="1524600" y="-18360"/>
            <a:ext cx="7680600" cy="5223960"/>
            <a:chOff x="1524600" y="-18360"/>
            <a:chExt cx="7680600" cy="5223960"/>
          </a:xfrm>
        </p:grpSpPr>
        <p:cxnSp>
          <p:nvCxnSpPr>
            <p:cNvPr id="137" name="Google Shape;352;p41"/>
            <p:cNvCxnSpPr/>
            <p:nvPr/>
          </p:nvCxnSpPr>
          <p:spPr>
            <a:xfrm>
              <a:off x="1536120" y="-18360"/>
              <a:ext cx="360" cy="5224320"/>
            </a:xfrm>
            <a:prstGeom prst="straightConnector1">
              <a:avLst/>
            </a:prstGeom>
            <a:ln w="9525">
              <a:solidFill>
                <a:srgbClr val="FFFFFF"/>
              </a:solidFill>
              <a:round/>
            </a:ln>
          </p:spPr>
        </p:cxnSp>
        <p:cxnSp>
          <p:nvCxnSpPr>
            <p:cNvPr id="138" name="Google Shape;353;p41"/>
            <p:cNvCxnSpPr/>
            <p:nvPr/>
          </p:nvCxnSpPr>
          <p:spPr>
            <a:xfrm flipH="1">
              <a:off x="1524600" y="3261600"/>
              <a:ext cx="7680960" cy="360"/>
            </a:xfrm>
            <a:prstGeom prst="straightConnector1">
              <a:avLst/>
            </a:prstGeom>
            <a:ln w="9525">
              <a:solidFill>
                <a:srgbClr val="FFFFFF"/>
              </a:solidFill>
              <a:round/>
            </a:ln>
          </p:spPr>
        </p:cxnSp>
      </p:grpSp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2328000" y="1129044"/>
            <a:ext cx="5070660" cy="1107996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91440" rIns="91440" bIns="91440" anchor="b">
            <a:spAutoFit/>
          </a:bodyPr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6000" b="0" u="none" strike="noStrike" dirty="0">
                <a:solidFill>
                  <a:schemeClr val="accent1"/>
                </a:solidFill>
                <a:effectLst/>
                <a:uFillTx/>
                <a:latin typeface="Zalando Sans Expanded ExtraLight"/>
                <a:ea typeface="Zalando Sans Expanded ExtraLight"/>
              </a:rPr>
              <a:t>THANK</a:t>
            </a:r>
            <a:r>
              <a:rPr lang="en" sz="5700" b="0" u="none" strike="noStrike" dirty="0">
                <a:solidFill>
                  <a:schemeClr val="accent1"/>
                </a:solidFill>
                <a:effectLst/>
                <a:uFillTx/>
                <a:latin typeface="Zalando Sans Expanded ExtraLight"/>
                <a:ea typeface="Zalando Sans Expanded ExtraLight"/>
              </a:rPr>
              <a:t> YOU</a:t>
            </a:r>
            <a:endParaRPr lang="fr-FR" sz="57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9" name="Google Shape;364;p41"/>
          <p:cNvSpPr/>
          <p:nvPr/>
        </p:nvSpPr>
        <p:spPr>
          <a:xfrm>
            <a:off x="1962000" y="4581360"/>
            <a:ext cx="415260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0" rIns="0" bIns="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chemeClr val="accent1"/>
                </a:solidFill>
                <a:effectLst/>
                <a:uFillTx/>
                <a:latin typeface="Arial"/>
              </a:rPr>
              <a:t>Please keep this slide for attribution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AB08480-52CB-3C16-6609-93016B843B20}"/>
              </a:ext>
            </a:extLst>
          </p:cNvPr>
          <p:cNvSpPr/>
          <p:nvPr/>
        </p:nvSpPr>
        <p:spPr>
          <a:xfrm>
            <a:off x="2011680" y="3627120"/>
            <a:ext cx="4039920" cy="1189680"/>
          </a:xfrm>
          <a:prstGeom prst="rect">
            <a:avLst/>
          </a:prstGeom>
          <a:solidFill>
            <a:srgbClr val="4F5B4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nior Defense by Slidesgo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FFFFFF"/>
      </a:accent1>
      <a:accent2>
        <a:srgbClr val="D9D5BA"/>
      </a:accent2>
      <a:accent3>
        <a:srgbClr val="4F5B4D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</TotalTime>
  <Words>542</Words>
  <Application>Microsoft Office PowerPoint</Application>
  <PresentationFormat>On-screen Show (16:9)</PresentationFormat>
  <Paragraphs>42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</vt:lpstr>
      <vt:lpstr>Arial</vt:lpstr>
      <vt:lpstr>OpenSymbol</vt:lpstr>
      <vt:lpstr>Symbol</vt:lpstr>
      <vt:lpstr>Wingdings</vt:lpstr>
      <vt:lpstr>Zalando Sans Expanded ExtraLight</vt:lpstr>
      <vt:lpstr>Zalando Sans Expanded Medium</vt:lpstr>
      <vt:lpstr>Senior Defense by Slidesgo</vt:lpstr>
      <vt:lpstr>Slidesgo Final Pages</vt:lpstr>
      <vt:lpstr> CHAI-TIME POS System</vt:lpstr>
      <vt:lpstr>Introduction</vt:lpstr>
      <vt:lpstr>Project Overview</vt:lpstr>
      <vt:lpstr>Title of the Project: CHAI TIME CAFE – COMPLETE POS SYSTEM MASTER PLAN</vt:lpstr>
      <vt:lpstr>Domain Name: Point of Sale Systems for Retail/Cafes</vt:lpstr>
      <vt:lpstr>Problem Statement: Need for a fast, secure POS system with owner control, offline support, and real-time reporting</vt:lpstr>
      <vt:lpstr>System Features and Objectives</vt:lpstr>
      <vt:lpstr>Objective: Build a single-shop mini cafe POS with cashier billing, full owner control, secure data, real-time reports, offline support, and investor-ready analytics</vt:lpstr>
      <vt:lpstr>User Roles: Cashier with billing access, Owner/Admin with full dashboard and control</vt:lpstr>
      <vt:lpstr>Key Functionalities: Billing flow, payment modes (Cash, UPI), discount management, shift closing, offline mode</vt:lpstr>
      <vt:lpstr>Conclusions</vt:lpstr>
      <vt:lpstr>THANK YOU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SRIRAM K</dc:creator>
  <cp:lastModifiedBy>SRIRAM K</cp:lastModifiedBy>
  <cp:revision>4</cp:revision>
  <dcterms:modified xsi:type="dcterms:W3CDTF">2026-01-12T06:27:46Z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2026-01-11T06:29:52Z</dcterms:created>
  <dc:creator>Unknown Creator</dc:creator>
  <dc:description/>
  <dc:language>en-US</dc:language>
  <cp:lastModifiedBy>Unknown Creator</cp:lastModifiedBy>
  <dcterms:modified xsi:type="dcterms:W3CDTF">2026-01-11T06:29:52Z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13</vt:r8>
  </property>
</Properties>
</file>